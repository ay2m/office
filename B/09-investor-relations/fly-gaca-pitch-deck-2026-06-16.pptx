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CC"/>
          </a:solidFill>
          <a:ln/>
        </p:spPr>
      </p:sp>
      <p:sp>
        <p:nvSpPr>
          <p:cNvPr id="3" name="Shape 1"/>
          <p:cNvSpPr/>
          <p:nvPr/>
        </p:nvSpPr>
        <p:spPr>
          <a:xfrm>
            <a:off x="7863840" y="164592"/>
            <a:ext cx="502920" cy="502920"/>
          </a:xfrm>
          <a:prstGeom prst="ellipse">
            <a:avLst/>
          </a:prstGeom>
          <a:solidFill>
            <a:srgbClr val="FFB020"/>
          </a:solidFill>
          <a:ln/>
        </p:spPr>
      </p:sp>
      <p:sp>
        <p:nvSpPr>
          <p:cNvPr id="4" name="Text 2"/>
          <p:cNvSpPr/>
          <p:nvPr/>
        </p:nvSpPr>
        <p:spPr>
          <a:xfrm>
            <a:off x="365760" y="411480"/>
            <a:ext cx="5486400" cy="594360"/>
          </a:xfrm>
          <a:prstGeom prst="rect">
            <a:avLst/>
          </a:prstGeom>
          <a:noFill/>
          <a:ln/>
        </p:spPr>
        <p:txBody>
          <a:bodyPr wrap="square" lIns="0" tIns="0" rIns="0" bIns="0" rtlCol="0" anchor="ctr"/>
          <a:lstStyle/>
          <a:p>
            <a:pPr indent="0" marL="0">
              <a:buNone/>
            </a:pPr>
            <a:r>
              <a:rPr lang="en-US" sz="3800" b="1" dirty="0">
                <a:solidFill>
                  <a:srgbClr val="F0F4F8"/>
                </a:solidFill>
                <a:latin typeface="Calibri" pitchFamily="34" charset="0"/>
                <a:ea typeface="Calibri" pitchFamily="34" charset="-122"/>
                <a:cs typeface="Calibri" pitchFamily="34" charset="-120"/>
              </a:rPr>
              <a:t>FLY GACA</a:t>
            </a:r>
            <a:endParaRPr lang="en-US" sz="3800" dirty="0"/>
          </a:p>
        </p:txBody>
      </p:sp>
      <p:sp>
        <p:nvSpPr>
          <p:cNvPr id="5" name="Text 3"/>
          <p:cNvSpPr/>
          <p:nvPr/>
        </p:nvSpPr>
        <p:spPr>
          <a:xfrm>
            <a:off x="365760" y="960120"/>
            <a:ext cx="4572000" cy="411480"/>
          </a:xfrm>
          <a:prstGeom prst="rect">
            <a:avLst/>
          </a:prstGeom>
          <a:noFill/>
          <a:ln/>
        </p:spPr>
        <p:txBody>
          <a:bodyPr wrap="square" lIns="0" tIns="0" rIns="0" bIns="0" rtlCol="0" anchor="ctr"/>
          <a:lstStyle/>
          <a:p>
            <a:pPr indent="0" marL="0">
              <a:buNone/>
            </a:pPr>
            <a:r>
              <a:rPr lang="en-US" sz="1800" i="1" dirty="0">
                <a:solidFill>
                  <a:srgbClr val="00B4CC"/>
                </a:solidFill>
                <a:latin typeface="Calibri" pitchFamily="34" charset="0"/>
                <a:ea typeface="Calibri" pitchFamily="34" charset="-122"/>
                <a:cs typeface="Calibri" pitchFamily="34" charset="-120"/>
              </a:rPr>
              <a:t>طَيَران جاكا</a:t>
            </a:r>
            <a:endParaRPr lang="en-US" sz="1800" dirty="0"/>
          </a:p>
        </p:txBody>
      </p:sp>
      <p:sp>
        <p:nvSpPr>
          <p:cNvPr id="6" name="Text 4"/>
          <p:cNvSpPr/>
          <p:nvPr/>
        </p:nvSpPr>
        <p:spPr>
          <a:xfrm>
            <a:off x="365760" y="1481328"/>
            <a:ext cx="685800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Saudi aviation — in one cockpit.</a:t>
            </a:r>
            <a:endParaRPr lang="en-US" sz="1600" dirty="0"/>
          </a:p>
        </p:txBody>
      </p:sp>
      <p:sp>
        <p:nvSpPr>
          <p:cNvPr id="7" name="Shape 5"/>
          <p:cNvSpPr/>
          <p:nvPr/>
        </p:nvSpPr>
        <p:spPr>
          <a:xfrm>
            <a:off x="365760" y="2011680"/>
            <a:ext cx="3840480" cy="22860"/>
          </a:xfrm>
          <a:prstGeom prst="rect">
            <a:avLst/>
          </a:prstGeom>
          <a:solidFill>
            <a:srgbClr val="00B4CC"/>
          </a:solidFill>
          <a:ln/>
        </p:spPr>
      </p:sp>
      <p:sp>
        <p:nvSpPr>
          <p:cNvPr id="8" name="Text 6"/>
          <p:cNvSpPr/>
          <p:nvPr/>
        </p:nvSpPr>
        <p:spPr>
          <a:xfrm>
            <a:off x="365760" y="2148840"/>
            <a:ext cx="6400800" cy="685800"/>
          </a:xfrm>
          <a:prstGeom prst="rect">
            <a:avLst/>
          </a:prstGeom>
          <a:noFill/>
          <a:ln/>
        </p:spPr>
        <p:txBody>
          <a:bodyPr wrap="square" lIns="0" tIns="0" rIns="0" bIns="0" rtlCol="0" anchor="ctr"/>
          <a:lstStyle/>
          <a:p>
            <a:pPr indent="0" marL="0">
              <a:buNone/>
            </a:pPr>
            <a:r>
              <a:rPr lang="en-US" sz="1400" dirty="0">
                <a:solidFill>
                  <a:srgbClr val="F0F4F8"/>
                </a:solidFill>
                <a:latin typeface="Calibri" pitchFamily="34" charset="0"/>
                <a:ea typeface="Calibri" pitchFamily="34" charset="-122"/>
                <a:cs typeface="Calibri" pitchFamily="34" charset="-120"/>
              </a:rPr>
              <a:t>Bridge Round · </a:t>
            </a:r>
            <a:pPr indent="0" marL="0">
              <a:buNone/>
            </a:pPr>
            <a:r>
              <a:rPr lang="en-US" sz="1400" b="1" dirty="0">
                <a:solidFill>
                  <a:srgbClr val="FFB020"/>
                </a:solidFill>
                <a:latin typeface="Calibri" pitchFamily="34" charset="0"/>
                <a:ea typeface="Calibri" pitchFamily="34" charset="-122"/>
                <a:cs typeface="Calibri" pitchFamily="34" charset="-120"/>
              </a:rPr>
              <a:t>3,000,000 SAR</a:t>
            </a:r>
            <a:pPr indent="0" marL="0">
              <a:buNone/>
            </a:pPr>
            <a:r>
              <a:rPr lang="en-US" sz="1400" dirty="0">
                <a:solidFill>
                  <a:srgbClr val="F0F4F8"/>
                </a:solidFill>
                <a:latin typeface="Calibri" pitchFamily="34" charset="0"/>
                <a:ea typeface="Calibri" pitchFamily="34" charset="-122"/>
                <a:cs typeface="Calibri" pitchFamily="34" charset="-120"/>
              </a:rPr>
              <a:t> · SAFE / Convertible Note</a:t>
            </a:r>
            <a:endParaRPr lang="en-US" sz="1400" dirty="0"/>
          </a:p>
          <a:p>
            <a:pPr indent="0" marL="0">
              <a:buNone/>
            </a:pPr>
            <a:r>
              <a:rPr lang="en-US" sz="1400" dirty="0">
                <a:solidFill>
                  <a:srgbClr val="F0F4F8"/>
                </a:solidFill>
                <a:latin typeface="Calibri" pitchFamily="34" charset="0"/>
                <a:ea typeface="Calibri" pitchFamily="34" charset="-122"/>
                <a:cs typeface="Calibri" pitchFamily="34" charset="-120"/>
              </a:rPr>
              <a:t>25M SAR cap · May 2026</a:t>
            </a:r>
            <a:endParaRPr lang="en-US" sz="1400" dirty="0"/>
          </a:p>
        </p:txBody>
      </p:sp>
      <p:sp>
        <p:nvSpPr>
          <p:cNvPr id="9" name="Text 7"/>
          <p:cNvSpPr/>
          <p:nvPr/>
        </p:nvSpPr>
        <p:spPr>
          <a:xfrm>
            <a:off x="365760" y="2926080"/>
            <a:ext cx="7315200" cy="868680"/>
          </a:xfrm>
          <a:prstGeom prst="rect">
            <a:avLst/>
          </a:prstGeom>
          <a:noFill/>
          <a:ln/>
        </p:spPr>
        <p:txBody>
          <a:bodyPr wrap="square" lIns="0" tIns="0" rIns="0" bIns="0" rtlCol="0" anchor="ctr"/>
          <a:lstStyle/>
          <a:p>
            <a:pPr indent="0" marL="0">
              <a:buNone/>
            </a:pPr>
            <a:r>
              <a:rPr lang="en-US" sz="1200" b="1" dirty="0">
                <a:solidFill>
                  <a:srgbClr val="94A3B8"/>
                </a:solidFill>
                <a:latin typeface="Calibri" pitchFamily="34" charset="0"/>
                <a:ea typeface="Calibri" pitchFamily="34" charset="-122"/>
                <a:cs typeface="Calibri" pitchFamily="34" charset="-120"/>
              </a:rPr>
              <a:t>Captain Adel Yahya A. Madkhali
</a:t>
            </a:r>
            <a:pPr indent="0" marL="0">
              <a:buNone/>
            </a:pPr>
            <a:r>
              <a:rPr lang="en-US" sz="1200" dirty="0">
                <a:solidFill>
                  <a:srgbClr val="94A3B8"/>
                </a:solidFill>
                <a:latin typeface="Calibri" pitchFamily="34" charset="0"/>
                <a:ea typeface="Calibri" pitchFamily="34" charset="-122"/>
                <a:cs typeface="Calibri" pitchFamily="34" charset="-120"/>
              </a:rPr>
              <a:t>Founder &amp; CEO · GACA-Licensed ATPL/CFII
</a:t>
            </a:r>
            <a:pPr indent="0" marL="0">
              <a:buNone/>
            </a:pPr>
            <a:r>
              <a:rPr lang="en-US" sz="1200" dirty="0">
                <a:solidFill>
                  <a:srgbClr val="00B4CC"/>
                </a:solidFill>
                <a:latin typeface="Calibri" pitchFamily="34" charset="0"/>
                <a:ea typeface="Calibri" pitchFamily="34" charset="-122"/>
                <a:cs typeface="Calibri" pitchFamily="34" charset="-120"/>
              </a:rPr>
              <a:t>i@flygaca.com  ·  +966 51 096 6969  ·  flygaca.com</a:t>
            </a:r>
            <a:endParaRPr lang="en-US" sz="1200" dirty="0"/>
          </a:p>
        </p:txBody>
      </p:sp>
      <p:sp>
        <p:nvSpPr>
          <p:cNvPr id="10" name="Text 8"/>
          <p:cNvSpPr/>
          <p:nvPr/>
        </p:nvSpPr>
        <p:spPr>
          <a:xfrm>
            <a:off x="365760" y="4663440"/>
            <a:ext cx="8412480" cy="320040"/>
          </a:xfrm>
          <a:prstGeom prst="rect">
            <a:avLst/>
          </a:prstGeom>
          <a:noFill/>
          <a:ln/>
        </p:spPr>
        <p:txBody>
          <a:bodyPr wrap="square" lIns="0" tIns="0" rIns="0" bIns="0" rtlCol="0" anchor="ctr"/>
          <a:lstStyle/>
          <a:p>
            <a:pPr indent="0" marL="0">
              <a:buNone/>
            </a:pPr>
            <a:r>
              <a:rPr lang="en-US" sz="900" i="1" dirty="0">
                <a:solidFill>
                  <a:srgbClr val="4B5563"/>
                </a:solidFill>
                <a:latin typeface="Calibri" pitchFamily="34" charset="0"/>
                <a:ea typeface="Calibri" pitchFamily="34" charset="-122"/>
                <a:cs typeface="Calibri" pitchFamily="34" charset="-120"/>
              </a:rPr>
              <a:t>Independent educational platform · Not affiliated with GACA · For study purposes only</a:t>
            </a:r>
            <a:endParaRPr lang="en-US" sz="900" dirty="0"/>
          </a:p>
        </p:txBody>
      </p:sp>
      <p:pic>
        <p:nvPicPr>
          <p:cNvPr id="11" name="Image 0" descr="preencoded.png">    </p:cNvPr>
          <p:cNvPicPr>
            <a:picLocks noChangeAspect="1"/>
          </p:cNvPicPr>
          <p:nvPr/>
        </p:nvPicPr>
        <p:blipFill>
          <a:blip r:embed="rId1">
            <a:alphaModFix amt="85000"/>
          </a:blip>
          <a:stretch>
            <a:fillRect/>
          </a:stretch>
        </p:blipFill>
        <p:spPr>
          <a:xfrm>
            <a:off x="7132320" y="118872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B020"/>
          </a:solidFill>
          <a:ln/>
        </p:spPr>
      </p:sp>
      <p:sp>
        <p:nvSpPr>
          <p:cNvPr id="3" name="Text 1"/>
          <p:cNvSpPr/>
          <p:nvPr/>
        </p:nvSpPr>
        <p:spPr>
          <a:xfrm>
            <a:off x="320040" y="256032"/>
            <a:ext cx="8503920" cy="411480"/>
          </a:xfrm>
          <a:prstGeom prst="rect">
            <a:avLst/>
          </a:prstGeom>
          <a:noFill/>
          <a:ln/>
        </p:spPr>
        <p:txBody>
          <a:bodyPr wrap="square" lIns="0" tIns="0" rIns="0" bIns="0" rtlCol="0" anchor="ctr"/>
          <a:lstStyle/>
          <a:p>
            <a:pPr indent="0" marL="0">
              <a:buNone/>
            </a:pPr>
            <a:r>
              <a:rPr lang="en-US" sz="1100" b="1" spc="400" kern="0" dirty="0">
                <a:solidFill>
                  <a:srgbClr val="FFB020"/>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320040" y="640080"/>
            <a:ext cx="8503920" cy="594360"/>
          </a:xfrm>
          <a:prstGeom prst="rect">
            <a:avLst/>
          </a:prstGeom>
          <a:noFill/>
          <a:ln/>
        </p:spPr>
        <p:txBody>
          <a:bodyPr wrap="square" lIns="0" tIns="0" rIns="0" bIns="0" rtlCol="0" anchor="ctr"/>
          <a:lstStyle/>
          <a:p>
            <a:pPr indent="0" marL="0">
              <a:buNone/>
            </a:pPr>
            <a:r>
              <a:rPr lang="en-US" sz="2800" b="1" dirty="0">
                <a:solidFill>
                  <a:srgbClr val="F0F4F8"/>
                </a:solidFill>
                <a:latin typeface="Calibri" pitchFamily="34" charset="0"/>
                <a:ea typeface="Calibri" pitchFamily="34" charset="-122"/>
                <a:cs typeface="Calibri" pitchFamily="34" charset="-120"/>
              </a:rPr>
              <a:t>Finding &amp; understanding GACAR is broken.</a:t>
            </a:r>
            <a:endParaRPr lang="en-US" sz="2800" dirty="0"/>
          </a:p>
        </p:txBody>
      </p:sp>
      <p:sp>
        <p:nvSpPr>
          <p:cNvPr id="5" name="Shape 3"/>
          <p:cNvSpPr/>
          <p:nvPr/>
        </p:nvSpPr>
        <p:spPr>
          <a:xfrm>
            <a:off x="274320" y="1463040"/>
            <a:ext cx="2743200" cy="3200400"/>
          </a:xfrm>
          <a:prstGeom prst="rect">
            <a:avLst/>
          </a:prstGeom>
          <a:solidFill>
            <a:srgbClr val="141C25"/>
          </a:solidFill>
          <a:ln/>
          <a:effectLst>
            <a:outerShdw sx="100000" sy="100000" kx="0" ky="0" algn="bl" rotWithShape="0" blurRad="127000" dist="38100" dir="8100000">
              <a:srgbClr val="000000">
                <a:alpha val="25000"/>
              </a:srgbClr>
            </a:outerShdw>
          </a:effectLst>
        </p:spPr>
      </p:sp>
      <p:pic>
        <p:nvPicPr>
          <p:cNvPr id="6" name="Image 0" descr="preencoded.png">    </p:cNvPr>
          <p:cNvPicPr>
            <a:picLocks noChangeAspect="1"/>
          </p:cNvPicPr>
          <p:nvPr/>
        </p:nvPicPr>
        <p:blipFill>
          <a:blip r:embed="rId1"/>
          <a:stretch>
            <a:fillRect/>
          </a:stretch>
        </p:blipFill>
        <p:spPr>
          <a:xfrm>
            <a:off x="402336" y="1572768"/>
            <a:ext cx="402336" cy="402336"/>
          </a:xfrm>
          <a:prstGeom prst="rect">
            <a:avLst/>
          </a:prstGeom>
        </p:spPr>
      </p:pic>
      <p:sp>
        <p:nvSpPr>
          <p:cNvPr id="7" name="Text 4"/>
          <p:cNvSpPr/>
          <p:nvPr/>
        </p:nvSpPr>
        <p:spPr>
          <a:xfrm>
            <a:off x="402336" y="2084832"/>
            <a:ext cx="2487168" cy="530352"/>
          </a:xfrm>
          <a:prstGeom prst="rect">
            <a:avLst/>
          </a:prstGeom>
          <a:noFill/>
          <a:ln/>
        </p:spPr>
        <p:txBody>
          <a:bodyPr wrap="square" lIns="0" tIns="0" rIns="0" bIns="0" rtlCol="0" anchor="ctr"/>
          <a:lstStyle/>
          <a:p>
            <a:pPr indent="0" marL="0">
              <a:buNone/>
            </a:pPr>
            <a:r>
              <a:rPr lang="en-US" sz="1300" b="1" dirty="0">
                <a:solidFill>
                  <a:srgbClr val="F0F4F8"/>
                </a:solidFill>
                <a:latin typeface="Calibri" pitchFamily="34" charset="0"/>
                <a:ea typeface="Calibri" pitchFamily="34" charset="-122"/>
                <a:cs typeface="Calibri" pitchFamily="34" charset="-120"/>
              </a:rPr>
              <a:t>Scattered &amp; Inaccessible</a:t>
            </a:r>
            <a:endParaRPr lang="en-US" sz="1300" dirty="0"/>
          </a:p>
        </p:txBody>
      </p:sp>
      <p:sp>
        <p:nvSpPr>
          <p:cNvPr id="8" name="Text 5"/>
          <p:cNvSpPr/>
          <p:nvPr/>
        </p:nvSpPr>
        <p:spPr>
          <a:xfrm>
            <a:off x="402336" y="2651760"/>
            <a:ext cx="2487168" cy="1828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74 GACAR parts, 61 aerodromes, 13 VFR charts — scattered across gaca.gov.sa as raw PDFs. No search, no structure, no bilingual access.</a:t>
            </a:r>
            <a:endParaRPr lang="en-US" sz="1050" dirty="0"/>
          </a:p>
        </p:txBody>
      </p:sp>
      <p:sp>
        <p:nvSpPr>
          <p:cNvPr id="9" name="Shape 6"/>
          <p:cNvSpPr/>
          <p:nvPr/>
        </p:nvSpPr>
        <p:spPr>
          <a:xfrm>
            <a:off x="3227832" y="1463040"/>
            <a:ext cx="2743200" cy="3200400"/>
          </a:xfrm>
          <a:prstGeom prst="rect">
            <a:avLst/>
          </a:prstGeom>
          <a:solidFill>
            <a:srgbClr val="141C25"/>
          </a:solidFill>
          <a:ln/>
          <a:effectLst>
            <a:outerShdw sx="100000" sy="100000" kx="0" ky="0" algn="bl" rotWithShape="0" blurRad="127000" dist="38100" dir="8100000">
              <a:srgbClr val="000000">
                <a:alpha val="25000"/>
              </a:srgbClr>
            </a:outerShdw>
          </a:effectLst>
        </p:spPr>
      </p:sp>
      <p:pic>
        <p:nvPicPr>
          <p:cNvPr id="10" name="Image 1" descr="preencoded.png">    </p:cNvPr>
          <p:cNvPicPr>
            <a:picLocks noChangeAspect="1"/>
          </p:cNvPicPr>
          <p:nvPr/>
        </p:nvPicPr>
        <p:blipFill>
          <a:blip r:embed="rId2"/>
          <a:stretch>
            <a:fillRect/>
          </a:stretch>
        </p:blipFill>
        <p:spPr>
          <a:xfrm>
            <a:off x="3355848" y="1572768"/>
            <a:ext cx="402336" cy="402336"/>
          </a:xfrm>
          <a:prstGeom prst="rect">
            <a:avLst/>
          </a:prstGeom>
        </p:spPr>
      </p:pic>
      <p:sp>
        <p:nvSpPr>
          <p:cNvPr id="11" name="Text 7"/>
          <p:cNvSpPr/>
          <p:nvPr/>
        </p:nvSpPr>
        <p:spPr>
          <a:xfrm>
            <a:off x="3355848" y="2084832"/>
            <a:ext cx="2487168" cy="530352"/>
          </a:xfrm>
          <a:prstGeom prst="rect">
            <a:avLst/>
          </a:prstGeom>
          <a:noFill/>
          <a:ln/>
        </p:spPr>
        <p:txBody>
          <a:bodyPr wrap="square" lIns="0" tIns="0" rIns="0" bIns="0" rtlCol="0" anchor="ctr"/>
          <a:lstStyle/>
          <a:p>
            <a:pPr indent="0" marL="0">
              <a:buNone/>
            </a:pPr>
            <a:r>
              <a:rPr lang="en-US" sz="1300" b="1" dirty="0">
                <a:solidFill>
                  <a:srgbClr val="F0F4F8"/>
                </a:solidFill>
                <a:latin typeface="Calibri" pitchFamily="34" charset="0"/>
                <a:ea typeface="Calibri" pitchFamily="34" charset="-122"/>
                <a:cs typeface="Calibri" pitchFamily="34" charset="-120"/>
              </a:rPr>
              <a:t>Arabic-Only Dense Legalese</a:t>
            </a:r>
            <a:endParaRPr lang="en-US" sz="1300" dirty="0"/>
          </a:p>
        </p:txBody>
      </p:sp>
      <p:sp>
        <p:nvSpPr>
          <p:cNvPr id="12" name="Text 8"/>
          <p:cNvSpPr/>
          <p:nvPr/>
        </p:nvSpPr>
        <p:spPr>
          <a:xfrm>
            <a:off x="3355848" y="2651760"/>
            <a:ext cx="2487168" cy="1828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96 regulatory documents, Arabic-only, exceeding 29,000 content chunks. Aggregating and structuring this corpus took 6+ months of domain-expert curation.</a:t>
            </a:r>
            <a:endParaRPr lang="en-US" sz="1050" dirty="0"/>
          </a:p>
        </p:txBody>
      </p:sp>
      <p:sp>
        <p:nvSpPr>
          <p:cNvPr id="13" name="Shape 9"/>
          <p:cNvSpPr/>
          <p:nvPr/>
        </p:nvSpPr>
        <p:spPr>
          <a:xfrm>
            <a:off x="6181344" y="1463040"/>
            <a:ext cx="2743200" cy="3200400"/>
          </a:xfrm>
          <a:prstGeom prst="rect">
            <a:avLst/>
          </a:prstGeom>
          <a:solidFill>
            <a:srgbClr val="141C25"/>
          </a:solidFill>
          <a:ln/>
          <a:effectLst>
            <a:outerShdw sx="100000" sy="100000" kx="0" ky="0" algn="bl" rotWithShape="0" blurRad="127000" dist="38100" dir="8100000">
              <a:srgbClr val="000000">
                <a:alpha val="25000"/>
              </a:srgbClr>
            </a:outerShdw>
          </a:effectLst>
        </p:spPr>
      </p:sp>
      <p:pic>
        <p:nvPicPr>
          <p:cNvPr id="14" name="Image 2" descr="preencoded.png">    </p:cNvPr>
          <p:cNvPicPr>
            <a:picLocks noChangeAspect="1"/>
          </p:cNvPicPr>
          <p:nvPr/>
        </p:nvPicPr>
        <p:blipFill>
          <a:blip r:embed="rId3"/>
          <a:stretch>
            <a:fillRect/>
          </a:stretch>
        </p:blipFill>
        <p:spPr>
          <a:xfrm>
            <a:off x="6309360" y="1572768"/>
            <a:ext cx="402336" cy="402336"/>
          </a:xfrm>
          <a:prstGeom prst="rect">
            <a:avLst/>
          </a:prstGeom>
        </p:spPr>
      </p:pic>
      <p:sp>
        <p:nvSpPr>
          <p:cNvPr id="15" name="Text 10"/>
          <p:cNvSpPr/>
          <p:nvPr/>
        </p:nvSpPr>
        <p:spPr>
          <a:xfrm>
            <a:off x="6309360" y="2084832"/>
            <a:ext cx="2487168" cy="530352"/>
          </a:xfrm>
          <a:prstGeom prst="rect">
            <a:avLst/>
          </a:prstGeom>
          <a:noFill/>
          <a:ln/>
        </p:spPr>
        <p:txBody>
          <a:bodyPr wrap="square" lIns="0" tIns="0" rIns="0" bIns="0" rtlCol="0" anchor="ctr"/>
          <a:lstStyle/>
          <a:p>
            <a:pPr indent="0" marL="0">
              <a:buNone/>
            </a:pPr>
            <a:r>
              <a:rPr lang="en-US" sz="1300" b="1" dirty="0">
                <a:solidFill>
                  <a:srgbClr val="F0F4F8"/>
                </a:solidFill>
                <a:latin typeface="Calibri" pitchFamily="34" charset="0"/>
                <a:ea typeface="Calibri" pitchFamily="34" charset="-122"/>
                <a:cs typeface="Calibri" pitchFamily="34" charset="-120"/>
              </a:rPr>
              <a:t>No AI Instructor Exists</a:t>
            </a:r>
            <a:endParaRPr lang="en-US" sz="1300" dirty="0"/>
          </a:p>
        </p:txBody>
      </p:sp>
      <p:sp>
        <p:nvSpPr>
          <p:cNvPr id="16" name="Text 11"/>
          <p:cNvSpPr/>
          <p:nvPr/>
        </p:nvSpPr>
        <p:spPr>
          <a:xfrm>
            <a:off x="6309360" y="2651760"/>
            <a:ext cx="2487168" cy="1828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Cadets have ChatGPT (no GACAR corpus), FAA platforms (wrong jurisdiction), or paper textbooks. Zero GACA-cited AI study tools exist in-Kingdom.</a:t>
            </a:r>
            <a:endParaRPr lang="en-US" sz="1050" dirty="0"/>
          </a:p>
        </p:txBody>
      </p:sp>
      <p:sp>
        <p:nvSpPr>
          <p:cNvPr id="17" name="Text 12"/>
          <p:cNvSpPr/>
          <p:nvPr/>
        </p:nvSpPr>
        <p:spPr>
          <a:xfrm>
            <a:off x="320040" y="4828032"/>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Independent educational platform · Not affiliated with GACA</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CC"/>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00B4CC"/>
                </a:solidFill>
                <a:latin typeface="Calibri" pitchFamily="34" charset="0"/>
                <a:ea typeface="Calibri" pitchFamily="34" charset="-122"/>
                <a:cs typeface="Calibri" pitchFamily="34" charset="-120"/>
              </a:rPr>
              <a:t>THE SOLUTION</a:t>
            </a:r>
            <a:endParaRPr lang="en-US" sz="1100" dirty="0"/>
          </a:p>
        </p:txBody>
      </p:sp>
      <p:sp>
        <p:nvSpPr>
          <p:cNvPr id="4" name="Text 2"/>
          <p:cNvSpPr/>
          <p:nvPr/>
        </p:nvSpPr>
        <p:spPr>
          <a:xfrm>
            <a:off x="320040" y="603504"/>
            <a:ext cx="8503920" cy="594360"/>
          </a:xfrm>
          <a:prstGeom prst="rect">
            <a:avLst/>
          </a:prstGeom>
          <a:noFill/>
          <a:ln/>
        </p:spPr>
        <p:txBody>
          <a:bodyPr wrap="square" lIns="0" tIns="0" rIns="0" bIns="0" rtlCol="0" anchor="ctr"/>
          <a:lstStyle/>
          <a:p>
            <a:pPr indent="0" marL="0">
              <a:buNone/>
            </a:pPr>
            <a:r>
              <a:rPr lang="en-US" sz="2400" b="1" dirty="0">
                <a:solidFill>
                  <a:srgbClr val="F0F4F8"/>
                </a:solidFill>
                <a:latin typeface="Calibri" pitchFamily="34" charset="0"/>
                <a:ea typeface="Calibri" pitchFamily="34" charset="-122"/>
                <a:cs typeface="Calibri" pitchFamily="34" charset="-120"/>
              </a:rPr>
              <a:t>Saudi aviation's regulatory library — and AI instructor.</a:t>
            </a:r>
            <a:endParaRPr lang="en-US" sz="2400" dirty="0"/>
          </a:p>
        </p:txBody>
      </p:sp>
      <p:sp>
        <p:nvSpPr>
          <p:cNvPr id="5" name="Shape 3"/>
          <p:cNvSpPr/>
          <p:nvPr/>
        </p:nvSpPr>
        <p:spPr>
          <a:xfrm>
            <a:off x="274320" y="1371600"/>
            <a:ext cx="2788920" cy="1691640"/>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402336" y="1517904"/>
            <a:ext cx="310896" cy="310896"/>
          </a:xfrm>
          <a:prstGeom prst="rect">
            <a:avLst/>
          </a:prstGeom>
        </p:spPr>
      </p:pic>
      <p:sp>
        <p:nvSpPr>
          <p:cNvPr id="7" name="Text 4"/>
          <p:cNvSpPr/>
          <p:nvPr/>
        </p:nvSpPr>
        <p:spPr>
          <a:xfrm>
            <a:off x="786384" y="1490472"/>
            <a:ext cx="2176272" cy="384048"/>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1. GACAR Library</a:t>
            </a:r>
            <a:endParaRPr lang="en-US" sz="1200" dirty="0"/>
          </a:p>
        </p:txBody>
      </p:sp>
      <p:sp>
        <p:nvSpPr>
          <p:cNvPr id="8" name="Text 5"/>
          <p:cNvSpPr/>
          <p:nvPr/>
        </p:nvSpPr>
        <p:spPr>
          <a:xfrm>
            <a:off x="402336" y="1901952"/>
            <a:ext cx="2542032" cy="107899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74 Parts · 61 aerodromes · 13 VFR charts · 190 reference docs. Full-text search across 46,036 entries. AIRAC currency stamps. Free, forever.</a:t>
            </a:r>
            <a:endParaRPr lang="en-US" sz="950" dirty="0"/>
          </a:p>
        </p:txBody>
      </p:sp>
      <p:sp>
        <p:nvSpPr>
          <p:cNvPr id="9" name="Shape 6"/>
          <p:cNvSpPr/>
          <p:nvPr/>
        </p:nvSpPr>
        <p:spPr>
          <a:xfrm>
            <a:off x="3227832" y="1371600"/>
            <a:ext cx="2788920" cy="1691640"/>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3355848" y="1517904"/>
            <a:ext cx="310896" cy="310896"/>
          </a:xfrm>
          <a:prstGeom prst="rect">
            <a:avLst/>
          </a:prstGeom>
        </p:spPr>
      </p:pic>
      <p:sp>
        <p:nvSpPr>
          <p:cNvPr id="11" name="Text 7"/>
          <p:cNvSpPr/>
          <p:nvPr/>
        </p:nvSpPr>
        <p:spPr>
          <a:xfrm>
            <a:off x="3739896" y="1490472"/>
            <a:ext cx="2176272" cy="384048"/>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2. Captain Adel AI</a:t>
            </a:r>
            <a:endParaRPr lang="en-US" sz="1200" dirty="0"/>
          </a:p>
        </p:txBody>
      </p:sp>
      <p:sp>
        <p:nvSpPr>
          <p:cNvPr id="12" name="Text 8"/>
          <p:cNvSpPr/>
          <p:nvPr/>
        </p:nvSpPr>
        <p:spPr>
          <a:xfrm>
            <a:off x="3355848" y="1901952"/>
            <a:ext cx="2542032" cy="107899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RAG on Gemini 2.5 Flash · me-central2 (Dammam) · PDPL-compliant. Every answer cites the exact GACAR Part. Bilingual EN/AR. 5 free questions/month → unlimited on Pro.</a:t>
            </a:r>
            <a:endParaRPr lang="en-US" sz="950" dirty="0"/>
          </a:p>
        </p:txBody>
      </p:sp>
      <p:sp>
        <p:nvSpPr>
          <p:cNvPr id="13" name="Shape 9"/>
          <p:cNvSpPr/>
          <p:nvPr/>
        </p:nvSpPr>
        <p:spPr>
          <a:xfrm>
            <a:off x="6181344" y="1371600"/>
            <a:ext cx="2788920" cy="1691640"/>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6309360" y="1517904"/>
            <a:ext cx="310896" cy="310896"/>
          </a:xfrm>
          <a:prstGeom prst="rect">
            <a:avLst/>
          </a:prstGeom>
        </p:spPr>
      </p:pic>
      <p:sp>
        <p:nvSpPr>
          <p:cNvPr id="15" name="Text 10"/>
          <p:cNvSpPr/>
          <p:nvPr/>
        </p:nvSpPr>
        <p:spPr>
          <a:xfrm>
            <a:off x="6693408" y="1490472"/>
            <a:ext cx="2176272" cy="384048"/>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3. Flight Tools</a:t>
            </a:r>
            <a:endParaRPr lang="en-US" sz="1200" dirty="0"/>
          </a:p>
        </p:txBody>
      </p:sp>
      <p:sp>
        <p:nvSpPr>
          <p:cNvPr id="16" name="Text 11"/>
          <p:cNvSpPr/>
          <p:nvPr/>
        </p:nvSpPr>
        <p:spPr>
          <a:xfrm>
            <a:off x="6309360" y="1901952"/>
            <a:ext cx="2542032" cy="107899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24 calculators — E6B, W&amp;B, fuel, density altitude, top-of-descent, cloud base, TSD and more. 3 free runs/day → unlimited on Pro.</a:t>
            </a:r>
            <a:endParaRPr lang="en-US" sz="950" dirty="0"/>
          </a:p>
        </p:txBody>
      </p:sp>
      <p:sp>
        <p:nvSpPr>
          <p:cNvPr id="17" name="Shape 12"/>
          <p:cNvSpPr/>
          <p:nvPr/>
        </p:nvSpPr>
        <p:spPr>
          <a:xfrm>
            <a:off x="274320" y="3200400"/>
            <a:ext cx="2788920" cy="1691640"/>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8" name="Image 3" descr="preencoded.png">    </p:cNvPr>
          <p:cNvPicPr>
            <a:picLocks noChangeAspect="1"/>
          </p:cNvPicPr>
          <p:nvPr/>
        </p:nvPicPr>
        <p:blipFill>
          <a:blip r:embed="rId4"/>
          <a:stretch>
            <a:fillRect/>
          </a:stretch>
        </p:blipFill>
        <p:spPr>
          <a:xfrm>
            <a:off x="402336" y="3346704"/>
            <a:ext cx="310896" cy="310896"/>
          </a:xfrm>
          <a:prstGeom prst="rect">
            <a:avLst/>
          </a:prstGeom>
        </p:spPr>
      </p:pic>
      <p:sp>
        <p:nvSpPr>
          <p:cNvPr id="19" name="Text 13"/>
          <p:cNvSpPr/>
          <p:nvPr/>
        </p:nvSpPr>
        <p:spPr>
          <a:xfrm>
            <a:off x="786384" y="3319272"/>
            <a:ext cx="2176272" cy="384048"/>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4. Guides</a:t>
            </a:r>
            <a:endParaRPr lang="en-US" sz="1200" dirty="0"/>
          </a:p>
        </p:txBody>
      </p:sp>
      <p:sp>
        <p:nvSpPr>
          <p:cNvPr id="20" name="Text 14"/>
          <p:cNvSpPr/>
          <p:nvPr/>
        </p:nvSpPr>
        <p:spPr>
          <a:xfrm>
            <a:off x="402336" y="3730752"/>
            <a:ext cx="2542032" cy="107899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plain-language how-to guides: METAR/TAF, NOTAMs, the AIRAC cycle, Saudi airspace, reading paths. All free.</a:t>
            </a:r>
            <a:endParaRPr lang="en-US" sz="950" dirty="0"/>
          </a:p>
        </p:txBody>
      </p:sp>
      <p:sp>
        <p:nvSpPr>
          <p:cNvPr id="21" name="Shape 15"/>
          <p:cNvSpPr/>
          <p:nvPr/>
        </p:nvSpPr>
        <p:spPr>
          <a:xfrm>
            <a:off x="3227832" y="3200400"/>
            <a:ext cx="2788920" cy="1691640"/>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22" name="Image 4" descr="preencoded.png">    </p:cNvPr>
          <p:cNvPicPr>
            <a:picLocks noChangeAspect="1"/>
          </p:cNvPicPr>
          <p:nvPr/>
        </p:nvPicPr>
        <p:blipFill>
          <a:blip r:embed="rId5"/>
          <a:stretch>
            <a:fillRect/>
          </a:stretch>
        </p:blipFill>
        <p:spPr>
          <a:xfrm>
            <a:off x="3355848" y="3346704"/>
            <a:ext cx="310896" cy="310896"/>
          </a:xfrm>
          <a:prstGeom prst="rect">
            <a:avLst/>
          </a:prstGeom>
        </p:spPr>
      </p:pic>
      <p:sp>
        <p:nvSpPr>
          <p:cNvPr id="23" name="Text 16"/>
          <p:cNvSpPr/>
          <p:nvPr/>
        </p:nvSpPr>
        <p:spPr>
          <a:xfrm>
            <a:off x="3739896" y="3319272"/>
            <a:ext cx="2176272" cy="384048"/>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5. Ground School</a:t>
            </a:r>
            <a:endParaRPr lang="en-US" sz="1200" dirty="0"/>
          </a:p>
        </p:txBody>
      </p:sp>
      <p:sp>
        <p:nvSpPr>
          <p:cNvPr id="24" name="Text 17"/>
          <p:cNvSpPr/>
          <p:nvPr/>
        </p:nvSpPr>
        <p:spPr>
          <a:xfrm>
            <a:off x="3355848" y="3730752"/>
            <a:ext cx="2542032" cy="107899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34-lesson ground school · 162-question bank across 12 topics · timed mock exam · flashcards · exam-readiness analytics. Every question cited to GACAR Part.</a:t>
            </a:r>
            <a:endParaRPr lang="en-US" sz="950" dirty="0"/>
          </a:p>
        </p:txBody>
      </p:sp>
      <p:sp>
        <p:nvSpPr>
          <p:cNvPr id="25" name="Text 18"/>
          <p:cNvSpPr/>
          <p:nvPr/>
        </p:nvSpPr>
        <p:spPr>
          <a:xfrm>
            <a:off x="320040" y="4828032"/>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Independent educational platform · Not affiliated with GACA</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B020"/>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FFB020"/>
                </a:solidFill>
                <a:latin typeface="Calibri" pitchFamily="34" charset="0"/>
                <a:ea typeface="Calibri" pitchFamily="34" charset="-122"/>
                <a:cs typeface="Calibri" pitchFamily="34" charset="-120"/>
              </a:rPr>
              <a:t>WHY NOW</a:t>
            </a:r>
            <a:endParaRPr lang="en-US" sz="1100" dirty="0"/>
          </a:p>
        </p:txBody>
      </p:sp>
      <p:sp>
        <p:nvSpPr>
          <p:cNvPr id="4" name="Text 2"/>
          <p:cNvSpPr/>
          <p:nvPr/>
        </p:nvSpPr>
        <p:spPr>
          <a:xfrm>
            <a:off x="320040" y="603504"/>
            <a:ext cx="8503920" cy="594360"/>
          </a:xfrm>
          <a:prstGeom prst="rect">
            <a:avLst/>
          </a:prstGeom>
          <a:noFill/>
          <a:ln/>
        </p:spPr>
        <p:txBody>
          <a:bodyPr wrap="square" lIns="0" tIns="0" rIns="0" bIns="0" rtlCol="0" anchor="ctr"/>
          <a:lstStyle/>
          <a:p>
            <a:pPr indent="0" marL="0">
              <a:buNone/>
            </a:pPr>
            <a:r>
              <a:rPr lang="en-US" sz="2200" b="1" dirty="0">
                <a:solidFill>
                  <a:srgbClr val="F0F4F8"/>
                </a:solidFill>
                <a:latin typeface="Calibri" pitchFamily="34" charset="0"/>
                <a:ea typeface="Calibri" pitchFamily="34" charset="-122"/>
                <a:cs typeface="Calibri" pitchFamily="34" charset="-120"/>
              </a:rPr>
              <a:t>Vision 2030 builds the demand; the product is already built.</a:t>
            </a:r>
            <a:endParaRPr lang="en-US" sz="2200" dirty="0"/>
          </a:p>
        </p:txBody>
      </p:sp>
      <p:sp>
        <p:nvSpPr>
          <p:cNvPr id="5" name="Shape 3"/>
          <p:cNvSpPr/>
          <p:nvPr/>
        </p:nvSpPr>
        <p:spPr>
          <a:xfrm>
            <a:off x="274320" y="1417320"/>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411480" y="1618488"/>
            <a:ext cx="365760" cy="365760"/>
          </a:xfrm>
          <a:prstGeom prst="rect">
            <a:avLst/>
          </a:prstGeom>
        </p:spPr>
      </p:pic>
      <p:sp>
        <p:nvSpPr>
          <p:cNvPr id="7" name="Text 4"/>
          <p:cNvSpPr/>
          <p:nvPr/>
        </p:nvSpPr>
        <p:spPr>
          <a:xfrm>
            <a:off x="868680" y="1554480"/>
            <a:ext cx="3474720" cy="457200"/>
          </a:xfrm>
          <a:prstGeom prst="rect">
            <a:avLst/>
          </a:prstGeom>
          <a:noFill/>
          <a:ln/>
        </p:spPr>
        <p:txBody>
          <a:bodyPr wrap="square" lIns="0" tIns="0" rIns="0" bIns="0" rtlCol="0" anchor="ctr"/>
          <a:lstStyle/>
          <a:p>
            <a:pPr indent="0" marL="0">
              <a:buNone/>
            </a:pPr>
            <a:r>
              <a:rPr lang="en-US" sz="1250" b="1" dirty="0">
                <a:solidFill>
                  <a:srgbClr val="F0F4F8"/>
                </a:solidFill>
                <a:latin typeface="Calibri" pitchFamily="34" charset="0"/>
                <a:ea typeface="Calibri" pitchFamily="34" charset="-122"/>
                <a:cs typeface="Calibri" pitchFamily="34" charset="-120"/>
              </a:rPr>
              <a:t>KSA mandates Arabic GACA exams</a:t>
            </a:r>
            <a:endParaRPr lang="en-US" sz="1250" dirty="0"/>
          </a:p>
        </p:txBody>
      </p:sp>
      <p:sp>
        <p:nvSpPr>
          <p:cNvPr id="8" name="Text 5"/>
          <p:cNvSpPr/>
          <p:nvPr/>
        </p:nvSpPr>
        <p:spPr>
          <a:xfrm>
            <a:off x="411480" y="2075688"/>
            <a:ext cx="3931920" cy="7772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Saudi Arabia uniquely mandates Arabic-language GACA written exams. Foreign platforms (Gleim, Sporty's, King) are the wrong jurisdiction and wrong language — by structural design.</a:t>
            </a:r>
            <a:endParaRPr lang="en-US" sz="1000" dirty="0"/>
          </a:p>
        </p:txBody>
      </p:sp>
      <p:sp>
        <p:nvSpPr>
          <p:cNvPr id="9" name="Shape 6"/>
          <p:cNvSpPr/>
          <p:nvPr/>
        </p:nvSpPr>
        <p:spPr>
          <a:xfrm>
            <a:off x="4736592" y="1417320"/>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4873752" y="1618488"/>
            <a:ext cx="365760" cy="365760"/>
          </a:xfrm>
          <a:prstGeom prst="rect">
            <a:avLst/>
          </a:prstGeom>
        </p:spPr>
      </p:pic>
      <p:sp>
        <p:nvSpPr>
          <p:cNvPr id="11" name="Text 7"/>
          <p:cNvSpPr/>
          <p:nvPr/>
        </p:nvSpPr>
        <p:spPr>
          <a:xfrm>
            <a:off x="5330952" y="1554480"/>
            <a:ext cx="3474720" cy="457200"/>
          </a:xfrm>
          <a:prstGeom prst="rect">
            <a:avLst/>
          </a:prstGeom>
          <a:noFill/>
          <a:ln/>
        </p:spPr>
        <p:txBody>
          <a:bodyPr wrap="square" lIns="0" tIns="0" rIns="0" bIns="0" rtlCol="0" anchor="ctr"/>
          <a:lstStyle/>
          <a:p>
            <a:pPr indent="0" marL="0">
              <a:buNone/>
            </a:pPr>
            <a:r>
              <a:rPr lang="en-US" sz="1250" b="1" dirty="0">
                <a:solidFill>
                  <a:srgbClr val="F0F4F8"/>
                </a:solidFill>
                <a:latin typeface="Calibri" pitchFamily="34" charset="0"/>
                <a:ea typeface="Calibri" pitchFamily="34" charset="-122"/>
                <a:cs typeface="Calibri" pitchFamily="34" charset="-120"/>
              </a:rPr>
              <a:t>4,000 active pilots · 800 cadets/yr</a:t>
            </a:r>
            <a:endParaRPr lang="en-US" sz="1250" dirty="0"/>
          </a:p>
        </p:txBody>
      </p:sp>
      <p:sp>
        <p:nvSpPr>
          <p:cNvPr id="12" name="Text 8"/>
          <p:cNvSpPr/>
          <p:nvPr/>
        </p:nvSpPr>
        <p:spPr>
          <a:xfrm>
            <a:off x="4873752" y="2075688"/>
            <a:ext cx="3931920" cy="7772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~4,000 active ab-initio/student pilots today. ~800 cadets added annually across 6 accredited academies. All sitting GACA exams with no purpose-built study tool. (Source: Investor FAQ Q2)</a:t>
            </a:r>
            <a:endParaRPr lang="en-US" sz="1000" dirty="0"/>
          </a:p>
        </p:txBody>
      </p:sp>
      <p:sp>
        <p:nvSpPr>
          <p:cNvPr id="13" name="Shape 9"/>
          <p:cNvSpPr/>
          <p:nvPr/>
        </p:nvSpPr>
        <p:spPr>
          <a:xfrm>
            <a:off x="274320" y="3136392"/>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411480" y="3337560"/>
            <a:ext cx="365760" cy="365760"/>
          </a:xfrm>
          <a:prstGeom prst="rect">
            <a:avLst/>
          </a:prstGeom>
        </p:spPr>
      </p:pic>
      <p:sp>
        <p:nvSpPr>
          <p:cNvPr id="15" name="Text 10"/>
          <p:cNvSpPr/>
          <p:nvPr/>
        </p:nvSpPr>
        <p:spPr>
          <a:xfrm>
            <a:off x="868680" y="3273552"/>
            <a:ext cx="3474720" cy="457200"/>
          </a:xfrm>
          <a:prstGeom prst="rect">
            <a:avLst/>
          </a:prstGeom>
          <a:noFill/>
          <a:ln/>
        </p:spPr>
        <p:txBody>
          <a:bodyPr wrap="square" lIns="0" tIns="0" rIns="0" bIns="0" rtlCol="0" anchor="ctr"/>
          <a:lstStyle/>
          <a:p>
            <a:pPr indent="0" marL="0">
              <a:buNone/>
            </a:pPr>
            <a:r>
              <a:rPr lang="en-US" sz="1250" b="1" dirty="0">
                <a:solidFill>
                  <a:srgbClr val="F0F4F8"/>
                </a:solidFill>
                <a:latin typeface="Calibri" pitchFamily="34" charset="0"/>
                <a:ea typeface="Calibri" pitchFamily="34" charset="-122"/>
                <a:cs typeface="Calibri" pitchFamily="34" charset="-120"/>
              </a:rPr>
              <a:t>29,000-chunk corpus — 6 months curated</a:t>
            </a:r>
            <a:endParaRPr lang="en-US" sz="1250" dirty="0"/>
          </a:p>
        </p:txBody>
      </p:sp>
      <p:sp>
        <p:nvSpPr>
          <p:cNvPr id="16" name="Text 11"/>
          <p:cNvSpPr/>
          <p:nvPr/>
        </p:nvSpPr>
        <p:spPr>
          <a:xfrm>
            <a:off x="411480" y="3794760"/>
            <a:ext cx="3931920" cy="7772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96 GACA documents, curated and indexed into 29,000+ content chunks. A domain-expert barrier a startup can't replicate in under 12–18 months. Product is live.</a:t>
            </a:r>
            <a:endParaRPr lang="en-US" sz="1000" dirty="0"/>
          </a:p>
        </p:txBody>
      </p:sp>
      <p:sp>
        <p:nvSpPr>
          <p:cNvPr id="17" name="Shape 12"/>
          <p:cNvSpPr/>
          <p:nvPr/>
        </p:nvSpPr>
        <p:spPr>
          <a:xfrm>
            <a:off x="4736592" y="3136392"/>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8" name="Image 3" descr="preencoded.png">    </p:cNvPr>
          <p:cNvPicPr>
            <a:picLocks noChangeAspect="1"/>
          </p:cNvPicPr>
          <p:nvPr/>
        </p:nvPicPr>
        <p:blipFill>
          <a:blip r:embed="rId4"/>
          <a:stretch>
            <a:fillRect/>
          </a:stretch>
        </p:blipFill>
        <p:spPr>
          <a:xfrm>
            <a:off x="4873752" y="3337560"/>
            <a:ext cx="365760" cy="365760"/>
          </a:xfrm>
          <a:prstGeom prst="rect">
            <a:avLst/>
          </a:prstGeom>
        </p:spPr>
      </p:pic>
      <p:sp>
        <p:nvSpPr>
          <p:cNvPr id="19" name="Text 13"/>
          <p:cNvSpPr/>
          <p:nvPr/>
        </p:nvSpPr>
        <p:spPr>
          <a:xfrm>
            <a:off x="5330952" y="3273552"/>
            <a:ext cx="3474720" cy="457200"/>
          </a:xfrm>
          <a:prstGeom prst="rect">
            <a:avLst/>
          </a:prstGeom>
          <a:noFill/>
          <a:ln/>
        </p:spPr>
        <p:txBody>
          <a:bodyPr wrap="square" lIns="0" tIns="0" rIns="0" bIns="0" rtlCol="0" anchor="ctr"/>
          <a:lstStyle/>
          <a:p>
            <a:pPr indent="0" marL="0">
              <a:buNone/>
            </a:pPr>
            <a:r>
              <a:rPr lang="en-US" sz="1250" b="1" dirty="0">
                <a:solidFill>
                  <a:srgbClr val="F0F4F8"/>
                </a:solidFill>
                <a:latin typeface="Calibri" pitchFamily="34" charset="0"/>
                <a:ea typeface="Calibri" pitchFamily="34" charset="-122"/>
                <a:cs typeface="Calibri" pitchFamily="34" charset="-120"/>
              </a:rPr>
              <a:t>GACA exam overhaul underway</a:t>
            </a:r>
            <a:endParaRPr lang="en-US" sz="1250" dirty="0"/>
          </a:p>
        </p:txBody>
      </p:sp>
      <p:sp>
        <p:nvSpPr>
          <p:cNvPr id="20" name="Text 14"/>
          <p:cNvSpPr/>
          <p:nvPr/>
        </p:nvSpPr>
        <p:spPr>
          <a:xfrm>
            <a:off x="4873752" y="3794760"/>
            <a:ext cx="3931920" cy="7772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GACA is overhauling written exams as part of Vision 2030 aviation expansion. A cited, current study platform becomes essential infrastructure — not a nice-to-have.</a:t>
            </a:r>
            <a:endParaRPr lang="en-US" sz="1000" dirty="0"/>
          </a:p>
        </p:txBody>
      </p:sp>
      <p:sp>
        <p:nvSpPr>
          <p:cNvPr id="21" name="Text 15"/>
          <p:cNvSpPr/>
          <p:nvPr/>
        </p:nvSpPr>
        <p:spPr>
          <a:xfrm>
            <a:off x="320040" y="4828032"/>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Investor FAQ Q2 · STRATEGY-competitive-teardown.md · Fly-GACA-Master-Plan.docx</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CC"/>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00B4CC"/>
                </a:solidFill>
                <a:latin typeface="Calibri" pitchFamily="34" charset="0"/>
                <a:ea typeface="Calibri" pitchFamily="34" charset="-122"/>
                <a:cs typeface="Calibri" pitchFamily="34" charset="-120"/>
              </a:rPr>
              <a:t>PRODUCT</a:t>
            </a:r>
            <a:endParaRPr lang="en-US" sz="1100" dirty="0"/>
          </a:p>
        </p:txBody>
      </p:sp>
      <p:sp>
        <p:nvSpPr>
          <p:cNvPr id="4" name="Text 2"/>
          <p:cNvSpPr/>
          <p:nvPr/>
        </p:nvSpPr>
        <p:spPr>
          <a:xfrm>
            <a:off x="320040" y="603504"/>
            <a:ext cx="6858000" cy="548640"/>
          </a:xfrm>
          <a:prstGeom prst="rect">
            <a:avLst/>
          </a:prstGeom>
          <a:noFill/>
          <a:ln/>
        </p:spPr>
        <p:txBody>
          <a:bodyPr wrap="square" lIns="0" tIns="0" rIns="0" bIns="0" rtlCol="0" anchor="ctr"/>
          <a:lstStyle/>
          <a:p>
            <a:pPr indent="0" marL="0">
              <a:buNone/>
            </a:pPr>
            <a:r>
              <a:rPr lang="en-US" sz="2200" b="1" dirty="0">
                <a:solidFill>
                  <a:srgbClr val="F0F4F8"/>
                </a:solidFill>
                <a:latin typeface="Calibri" pitchFamily="34" charset="0"/>
                <a:ea typeface="Calibri" pitchFamily="34" charset="-122"/>
                <a:cs typeface="Calibri" pitchFamily="34" charset="-120"/>
              </a:rPr>
              <a:t>Live at flygaca.com — build far ahead of go-to-market.</a:t>
            </a:r>
            <a:endParaRPr lang="en-US" sz="2200" dirty="0"/>
          </a:p>
        </p:txBody>
      </p:sp>
      <p:sp>
        <p:nvSpPr>
          <p:cNvPr id="5" name="Shape 3"/>
          <p:cNvSpPr/>
          <p:nvPr/>
        </p:nvSpPr>
        <p:spPr>
          <a:xfrm>
            <a:off x="320040" y="1353312"/>
            <a:ext cx="4160520" cy="713232"/>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6" name="Text 4"/>
          <p:cNvSpPr/>
          <p:nvPr/>
        </p:nvSpPr>
        <p:spPr>
          <a:xfrm>
            <a:off x="466344" y="1426464"/>
            <a:ext cx="2743200" cy="27432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Library</a:t>
            </a:r>
            <a:endParaRPr lang="en-US" sz="1200" dirty="0"/>
          </a:p>
        </p:txBody>
      </p:sp>
      <p:sp>
        <p:nvSpPr>
          <p:cNvPr id="7" name="Text 5"/>
          <p:cNvSpPr/>
          <p:nvPr/>
        </p:nvSpPr>
        <p:spPr>
          <a:xfrm>
            <a:off x="3337560" y="1444752"/>
            <a:ext cx="1024128" cy="219456"/>
          </a:xfrm>
          <a:prstGeom prst="rect">
            <a:avLst/>
          </a:prstGeom>
          <a:noFill/>
          <a:ln/>
        </p:spPr>
        <p:txBody>
          <a:bodyPr wrap="square" lIns="0" tIns="0" rIns="0" bIns="0" rtlCol="0" anchor="ctr"/>
          <a:lstStyle/>
          <a:p>
            <a:pPr algn="r" indent="0" marL="0">
              <a:buNone/>
            </a:pPr>
            <a:r>
              <a:rPr lang="en-US" sz="900" b="1" dirty="0">
                <a:solidFill>
                  <a:srgbClr val="00B4CC"/>
                </a:solidFill>
                <a:latin typeface="Calibri" pitchFamily="34" charset="0"/>
                <a:ea typeface="Calibri" pitchFamily="34" charset="-122"/>
                <a:cs typeface="Calibri" pitchFamily="34" charset="-120"/>
              </a:rPr>
              <a:t>LIVE</a:t>
            </a:r>
            <a:endParaRPr lang="en-US" sz="900" dirty="0"/>
          </a:p>
        </p:txBody>
      </p:sp>
      <p:sp>
        <p:nvSpPr>
          <p:cNvPr id="8" name="Text 6"/>
          <p:cNvSpPr/>
          <p:nvPr/>
        </p:nvSpPr>
        <p:spPr>
          <a:xfrm>
            <a:off x="466344" y="1755648"/>
            <a:ext cx="3913632"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74 Parts · full-text search · AIRAC stamps</a:t>
            </a:r>
            <a:endParaRPr lang="en-US" sz="950" dirty="0"/>
          </a:p>
        </p:txBody>
      </p:sp>
      <p:sp>
        <p:nvSpPr>
          <p:cNvPr id="9" name="Shape 7"/>
          <p:cNvSpPr/>
          <p:nvPr/>
        </p:nvSpPr>
        <p:spPr>
          <a:xfrm>
            <a:off x="4727448" y="1353312"/>
            <a:ext cx="4160520" cy="713232"/>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10" name="Text 8"/>
          <p:cNvSpPr/>
          <p:nvPr/>
        </p:nvSpPr>
        <p:spPr>
          <a:xfrm>
            <a:off x="4873752" y="1426464"/>
            <a:ext cx="2743200" cy="27432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Captain Adel (RAG)</a:t>
            </a:r>
            <a:endParaRPr lang="en-US" sz="1200" dirty="0"/>
          </a:p>
        </p:txBody>
      </p:sp>
      <p:sp>
        <p:nvSpPr>
          <p:cNvPr id="11" name="Text 9"/>
          <p:cNvSpPr/>
          <p:nvPr/>
        </p:nvSpPr>
        <p:spPr>
          <a:xfrm>
            <a:off x="7744968" y="1444752"/>
            <a:ext cx="1024128" cy="219456"/>
          </a:xfrm>
          <a:prstGeom prst="rect">
            <a:avLst/>
          </a:prstGeom>
          <a:noFill/>
          <a:ln/>
        </p:spPr>
        <p:txBody>
          <a:bodyPr wrap="square" lIns="0" tIns="0" rIns="0" bIns="0" rtlCol="0" anchor="ctr"/>
          <a:lstStyle/>
          <a:p>
            <a:pPr algn="r" indent="0" marL="0">
              <a:buNone/>
            </a:pPr>
            <a:r>
              <a:rPr lang="en-US" sz="900" b="1" dirty="0">
                <a:solidFill>
                  <a:srgbClr val="00B4CC"/>
                </a:solidFill>
                <a:latin typeface="Calibri" pitchFamily="34" charset="0"/>
                <a:ea typeface="Calibri" pitchFamily="34" charset="-122"/>
                <a:cs typeface="Calibri" pitchFamily="34" charset="-120"/>
              </a:rPr>
              <a:t>LIVE</a:t>
            </a:r>
            <a:endParaRPr lang="en-US" sz="900" dirty="0"/>
          </a:p>
        </p:txBody>
      </p:sp>
      <p:sp>
        <p:nvSpPr>
          <p:cNvPr id="12" name="Text 10"/>
          <p:cNvSpPr/>
          <p:nvPr/>
        </p:nvSpPr>
        <p:spPr>
          <a:xfrm>
            <a:off x="4873752" y="1755648"/>
            <a:ext cx="3913632"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Gemini 2.5 Flash · 71% eval pass rate · me-central2 KSA</a:t>
            </a:r>
            <a:endParaRPr lang="en-US" sz="950" dirty="0"/>
          </a:p>
        </p:txBody>
      </p:sp>
      <p:sp>
        <p:nvSpPr>
          <p:cNvPr id="13" name="Shape 11"/>
          <p:cNvSpPr/>
          <p:nvPr/>
        </p:nvSpPr>
        <p:spPr>
          <a:xfrm>
            <a:off x="320040" y="2194560"/>
            <a:ext cx="4160520" cy="713232"/>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14" name="Text 12"/>
          <p:cNvSpPr/>
          <p:nvPr/>
        </p:nvSpPr>
        <p:spPr>
          <a:xfrm>
            <a:off x="466344" y="2267712"/>
            <a:ext cx="2743200" cy="27432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Pilot Accounts &amp; Tools</a:t>
            </a:r>
            <a:endParaRPr lang="en-US" sz="1200" dirty="0"/>
          </a:p>
        </p:txBody>
      </p:sp>
      <p:sp>
        <p:nvSpPr>
          <p:cNvPr id="15" name="Text 13"/>
          <p:cNvSpPr/>
          <p:nvPr/>
        </p:nvSpPr>
        <p:spPr>
          <a:xfrm>
            <a:off x="3337560" y="2286000"/>
            <a:ext cx="1024128" cy="219456"/>
          </a:xfrm>
          <a:prstGeom prst="rect">
            <a:avLst/>
          </a:prstGeom>
          <a:noFill/>
          <a:ln/>
        </p:spPr>
        <p:txBody>
          <a:bodyPr wrap="square" lIns="0" tIns="0" rIns="0" bIns="0" rtlCol="0" anchor="ctr"/>
          <a:lstStyle/>
          <a:p>
            <a:pPr algn="r" indent="0" marL="0">
              <a:buNone/>
            </a:pPr>
            <a:r>
              <a:rPr lang="en-US" sz="900" b="1" dirty="0">
                <a:solidFill>
                  <a:srgbClr val="00B4CC"/>
                </a:solidFill>
                <a:latin typeface="Calibri" pitchFamily="34" charset="0"/>
                <a:ea typeface="Calibri" pitchFamily="34" charset="-122"/>
                <a:cs typeface="Calibri" pitchFamily="34" charset="-120"/>
              </a:rPr>
              <a:t>LIVE</a:t>
            </a:r>
            <a:endParaRPr lang="en-US" sz="900" dirty="0"/>
          </a:p>
        </p:txBody>
      </p:sp>
      <p:sp>
        <p:nvSpPr>
          <p:cNvPr id="16" name="Text 14"/>
          <p:cNvSpPr/>
          <p:nvPr/>
        </p:nvSpPr>
        <p:spPr>
          <a:xfrm>
            <a:off x="466344" y="2596896"/>
            <a:ext cx="3913632"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Firebase Auth · logbook · 24 calculators · PDPL-gated</a:t>
            </a:r>
            <a:endParaRPr lang="en-US" sz="950" dirty="0"/>
          </a:p>
        </p:txBody>
      </p:sp>
      <p:sp>
        <p:nvSpPr>
          <p:cNvPr id="17" name="Shape 15"/>
          <p:cNvSpPr/>
          <p:nvPr/>
        </p:nvSpPr>
        <p:spPr>
          <a:xfrm>
            <a:off x="4727448" y="2194560"/>
            <a:ext cx="4160520" cy="713232"/>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18" name="Text 16"/>
          <p:cNvSpPr/>
          <p:nvPr/>
        </p:nvSpPr>
        <p:spPr>
          <a:xfrm>
            <a:off x="4873752" y="2267712"/>
            <a:ext cx="2743200" cy="27432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Arabic RTL Parity</a:t>
            </a:r>
            <a:endParaRPr lang="en-US" sz="1200" dirty="0"/>
          </a:p>
        </p:txBody>
      </p:sp>
      <p:sp>
        <p:nvSpPr>
          <p:cNvPr id="19" name="Text 17"/>
          <p:cNvSpPr/>
          <p:nvPr/>
        </p:nvSpPr>
        <p:spPr>
          <a:xfrm>
            <a:off x="7744968" y="2286000"/>
            <a:ext cx="1024128" cy="219456"/>
          </a:xfrm>
          <a:prstGeom prst="rect">
            <a:avLst/>
          </a:prstGeom>
          <a:noFill/>
          <a:ln/>
        </p:spPr>
        <p:txBody>
          <a:bodyPr wrap="square" lIns="0" tIns="0" rIns="0" bIns="0" rtlCol="0" anchor="ctr"/>
          <a:lstStyle/>
          <a:p>
            <a:pPr algn="r" indent="0" marL="0">
              <a:buNone/>
            </a:pPr>
            <a:r>
              <a:rPr lang="en-US" sz="900" b="1" dirty="0">
                <a:solidFill>
                  <a:srgbClr val="FFB020"/>
                </a:solidFill>
                <a:latin typeface="Calibri" pitchFamily="34" charset="0"/>
                <a:ea typeface="Calibri" pitchFamily="34" charset="-122"/>
                <a:cs typeface="Calibri" pitchFamily="34" charset="-120"/>
              </a:rPr>
              <a:t>IN PROGRESS</a:t>
            </a:r>
            <a:endParaRPr lang="en-US" sz="900" dirty="0"/>
          </a:p>
        </p:txBody>
      </p:sp>
      <p:sp>
        <p:nvSpPr>
          <p:cNvPr id="20" name="Text 18"/>
          <p:cNvSpPr/>
          <p:nvPr/>
        </p:nvSpPr>
        <p:spPr>
          <a:xfrm>
            <a:off x="4873752" y="2596896"/>
            <a:ext cx="3913632"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Homepage + hubs translated · inner pages remaining</a:t>
            </a:r>
            <a:endParaRPr lang="en-US" sz="950" dirty="0"/>
          </a:p>
        </p:txBody>
      </p:sp>
      <p:sp>
        <p:nvSpPr>
          <p:cNvPr id="21" name="Shape 19"/>
          <p:cNvSpPr/>
          <p:nvPr/>
        </p:nvSpPr>
        <p:spPr>
          <a:xfrm>
            <a:off x="320040" y="3035808"/>
            <a:ext cx="4160520" cy="713232"/>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22" name="Text 20"/>
          <p:cNvSpPr/>
          <p:nvPr/>
        </p:nvSpPr>
        <p:spPr>
          <a:xfrm>
            <a:off x="466344" y="3108960"/>
            <a:ext cx="2743200" cy="27432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Monetisation Layer</a:t>
            </a:r>
            <a:endParaRPr lang="en-US" sz="1200" dirty="0"/>
          </a:p>
        </p:txBody>
      </p:sp>
      <p:sp>
        <p:nvSpPr>
          <p:cNvPr id="23" name="Text 21"/>
          <p:cNvSpPr/>
          <p:nvPr/>
        </p:nvSpPr>
        <p:spPr>
          <a:xfrm>
            <a:off x="3337560" y="3127248"/>
            <a:ext cx="1024128" cy="219456"/>
          </a:xfrm>
          <a:prstGeom prst="rect">
            <a:avLst/>
          </a:prstGeom>
          <a:noFill/>
          <a:ln/>
        </p:spPr>
        <p:txBody>
          <a:bodyPr wrap="square" lIns="0" tIns="0" rIns="0" bIns="0"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BUILT / DORMANT</a:t>
            </a:r>
            <a:endParaRPr lang="en-US" sz="900" dirty="0"/>
          </a:p>
        </p:txBody>
      </p:sp>
      <p:sp>
        <p:nvSpPr>
          <p:cNvPr id="24" name="Text 22"/>
          <p:cNvSpPr/>
          <p:nvPr/>
        </p:nvSpPr>
        <p:spPr>
          <a:xfrm>
            <a:off x="466344" y="3438144"/>
            <a:ext cx="3913632"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Stripe · RevenueCat · B2B seats — await legal entity</a:t>
            </a:r>
            <a:endParaRPr lang="en-US" sz="950" dirty="0"/>
          </a:p>
        </p:txBody>
      </p:sp>
      <p:sp>
        <p:nvSpPr>
          <p:cNvPr id="25" name="Shape 23"/>
          <p:cNvSpPr/>
          <p:nvPr/>
        </p:nvSpPr>
        <p:spPr>
          <a:xfrm>
            <a:off x="4727448" y="3035808"/>
            <a:ext cx="4160520" cy="713232"/>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26" name="Text 24"/>
          <p:cNvSpPr/>
          <p:nvPr/>
        </p:nvSpPr>
        <p:spPr>
          <a:xfrm>
            <a:off x="4873752" y="3108960"/>
            <a:ext cx="2743200" cy="274320"/>
          </a:xfrm>
          <a:prstGeom prst="rect">
            <a:avLst/>
          </a:prstGeom>
          <a:noFill/>
          <a:ln/>
        </p:spPr>
        <p:txBody>
          <a:bodyPr wrap="square" lIns="0" tIns="0" rIns="0" bIns="0" rtlCol="0" anchor="ctr"/>
          <a:lstStyle/>
          <a:p>
            <a:pPr indent="0" marL="0">
              <a:buNone/>
            </a:pPr>
            <a:r>
              <a:rPr lang="en-US" sz="1200" b="1" dirty="0">
                <a:solidFill>
                  <a:srgbClr val="F0F4F8"/>
                </a:solidFill>
                <a:latin typeface="Calibri" pitchFamily="34" charset="0"/>
                <a:ea typeface="Calibri" pitchFamily="34" charset="-122"/>
                <a:cs typeface="Calibri" pitchFamily="34" charset="-120"/>
              </a:rPr>
              <a:t>Training Platform</a:t>
            </a:r>
            <a:endParaRPr lang="en-US" sz="1200" dirty="0"/>
          </a:p>
        </p:txBody>
      </p:sp>
      <p:sp>
        <p:nvSpPr>
          <p:cNvPr id="27" name="Text 25"/>
          <p:cNvSpPr/>
          <p:nvPr/>
        </p:nvSpPr>
        <p:spPr>
          <a:xfrm>
            <a:off x="7744968" y="3127248"/>
            <a:ext cx="1024128" cy="219456"/>
          </a:xfrm>
          <a:prstGeom prst="rect">
            <a:avLst/>
          </a:prstGeom>
          <a:noFill/>
          <a:ln/>
        </p:spPr>
        <p:txBody>
          <a:bodyPr wrap="square" lIns="0" tIns="0" rIns="0" bIns="0" rtlCol="0" anchor="ctr"/>
          <a:lstStyle/>
          <a:p>
            <a:pPr algn="r" indent="0" marL="0">
              <a:buNone/>
            </a:pPr>
            <a:r>
              <a:rPr lang="en-US" sz="900" b="1" dirty="0">
                <a:solidFill>
                  <a:srgbClr val="00B4CC"/>
                </a:solidFill>
                <a:latin typeface="Calibri" pitchFamily="34" charset="0"/>
                <a:ea typeface="Calibri" pitchFamily="34" charset="-122"/>
                <a:cs typeface="Calibri" pitchFamily="34" charset="-120"/>
              </a:rPr>
              <a:t>LIVE</a:t>
            </a:r>
            <a:endParaRPr lang="en-US" sz="900" dirty="0"/>
          </a:p>
        </p:txBody>
      </p:sp>
      <p:sp>
        <p:nvSpPr>
          <p:cNvPr id="28" name="Text 26"/>
          <p:cNvSpPr/>
          <p:nvPr/>
        </p:nvSpPr>
        <p:spPr>
          <a:xfrm>
            <a:off x="4873752" y="3438144"/>
            <a:ext cx="3913632"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162 Qs · 34 Ground School lessons · flashcards · readiness analytics</a:t>
            </a:r>
            <a:endParaRPr lang="en-US" sz="950" dirty="0"/>
          </a:p>
        </p:txBody>
      </p:sp>
      <p:sp>
        <p:nvSpPr>
          <p:cNvPr id="29" name="Shape 27"/>
          <p:cNvSpPr/>
          <p:nvPr/>
        </p:nvSpPr>
        <p:spPr>
          <a:xfrm>
            <a:off x="365760" y="4279392"/>
            <a:ext cx="1965960" cy="640080"/>
          </a:xfrm>
          <a:prstGeom prst="rect">
            <a:avLst/>
          </a:prstGeom>
          <a:solidFill>
            <a:srgbClr val="141C25"/>
          </a:solidFill>
          <a:ln w="12700">
            <a:solidFill>
              <a:srgbClr val="00B4CC"/>
            </a:solidFill>
            <a:prstDash val="solid"/>
          </a:ln>
          <a:effectLst>
            <a:outerShdw sx="100000" sy="100000" kx="0" ky="0" algn="bl" rotWithShape="0" blurRad="76200" dist="25400" dir="8100000">
              <a:srgbClr val="000000">
                <a:alpha val="12000"/>
              </a:srgbClr>
            </a:outerShdw>
          </a:effectLst>
        </p:spPr>
      </p:sp>
      <p:sp>
        <p:nvSpPr>
          <p:cNvPr id="30" name="Text 28"/>
          <p:cNvSpPr/>
          <p:nvPr/>
        </p:nvSpPr>
        <p:spPr>
          <a:xfrm>
            <a:off x="438912" y="4297680"/>
            <a:ext cx="1828800" cy="329184"/>
          </a:xfrm>
          <a:prstGeom prst="rect">
            <a:avLst/>
          </a:prstGeom>
          <a:noFill/>
          <a:ln/>
        </p:spPr>
        <p:txBody>
          <a:bodyPr wrap="square" lIns="0" tIns="0" rIns="0" bIns="0" rtlCol="0" anchor="ctr"/>
          <a:lstStyle/>
          <a:p>
            <a:pPr algn="ctr" indent="0" marL="0">
              <a:buNone/>
            </a:pPr>
            <a:r>
              <a:rPr lang="en-US" sz="2400" b="1" dirty="0">
                <a:solidFill>
                  <a:srgbClr val="FFB020"/>
                </a:solidFill>
                <a:latin typeface="Calibri" pitchFamily="34" charset="0"/>
                <a:ea typeface="Calibri" pitchFamily="34" charset="-122"/>
                <a:cs typeface="Calibri" pitchFamily="34" charset="-120"/>
              </a:rPr>
              <a:t>74</a:t>
            </a:r>
            <a:endParaRPr lang="en-US" sz="2400" dirty="0"/>
          </a:p>
        </p:txBody>
      </p:sp>
      <p:sp>
        <p:nvSpPr>
          <p:cNvPr id="31" name="Text 29"/>
          <p:cNvSpPr/>
          <p:nvPr/>
        </p:nvSpPr>
        <p:spPr>
          <a:xfrm>
            <a:off x="438912" y="4599432"/>
            <a:ext cx="1828800" cy="201168"/>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GACAR Parts</a:t>
            </a:r>
            <a:endParaRPr lang="en-US" sz="950" dirty="0"/>
          </a:p>
        </p:txBody>
      </p:sp>
      <p:sp>
        <p:nvSpPr>
          <p:cNvPr id="32" name="Shape 30"/>
          <p:cNvSpPr/>
          <p:nvPr/>
        </p:nvSpPr>
        <p:spPr>
          <a:xfrm>
            <a:off x="2542032" y="4279392"/>
            <a:ext cx="1965960" cy="640080"/>
          </a:xfrm>
          <a:prstGeom prst="rect">
            <a:avLst/>
          </a:prstGeom>
          <a:solidFill>
            <a:srgbClr val="141C25"/>
          </a:solidFill>
          <a:ln w="12700">
            <a:solidFill>
              <a:srgbClr val="00B4CC"/>
            </a:solidFill>
            <a:prstDash val="solid"/>
          </a:ln>
          <a:effectLst>
            <a:outerShdw sx="100000" sy="100000" kx="0" ky="0" algn="bl" rotWithShape="0" blurRad="76200" dist="25400" dir="8100000">
              <a:srgbClr val="000000">
                <a:alpha val="12000"/>
              </a:srgbClr>
            </a:outerShdw>
          </a:effectLst>
        </p:spPr>
      </p:sp>
      <p:sp>
        <p:nvSpPr>
          <p:cNvPr id="33" name="Text 31"/>
          <p:cNvSpPr/>
          <p:nvPr/>
        </p:nvSpPr>
        <p:spPr>
          <a:xfrm>
            <a:off x="2615184" y="4297680"/>
            <a:ext cx="1828800" cy="329184"/>
          </a:xfrm>
          <a:prstGeom prst="rect">
            <a:avLst/>
          </a:prstGeom>
          <a:noFill/>
          <a:ln/>
        </p:spPr>
        <p:txBody>
          <a:bodyPr wrap="square" lIns="0" tIns="0" rIns="0" bIns="0" rtlCol="0" anchor="ctr"/>
          <a:lstStyle/>
          <a:p>
            <a:pPr algn="ctr" indent="0" marL="0">
              <a:buNone/>
            </a:pPr>
            <a:r>
              <a:rPr lang="en-US" sz="2400" b="1" dirty="0">
                <a:solidFill>
                  <a:srgbClr val="FFB020"/>
                </a:solidFill>
                <a:latin typeface="Calibri" pitchFamily="34" charset="0"/>
                <a:ea typeface="Calibri" pitchFamily="34" charset="-122"/>
                <a:cs typeface="Calibri" pitchFamily="34" charset="-120"/>
              </a:rPr>
              <a:t>162</a:t>
            </a:r>
            <a:endParaRPr lang="en-US" sz="2400" dirty="0"/>
          </a:p>
        </p:txBody>
      </p:sp>
      <p:sp>
        <p:nvSpPr>
          <p:cNvPr id="34" name="Text 32"/>
          <p:cNvSpPr/>
          <p:nvPr/>
        </p:nvSpPr>
        <p:spPr>
          <a:xfrm>
            <a:off x="2615184" y="4599432"/>
            <a:ext cx="1828800" cy="201168"/>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Exam Questions</a:t>
            </a:r>
            <a:endParaRPr lang="en-US" sz="950" dirty="0"/>
          </a:p>
        </p:txBody>
      </p:sp>
      <p:sp>
        <p:nvSpPr>
          <p:cNvPr id="35" name="Shape 33"/>
          <p:cNvSpPr/>
          <p:nvPr/>
        </p:nvSpPr>
        <p:spPr>
          <a:xfrm>
            <a:off x="4718304" y="4279392"/>
            <a:ext cx="1965960" cy="640080"/>
          </a:xfrm>
          <a:prstGeom prst="rect">
            <a:avLst/>
          </a:prstGeom>
          <a:solidFill>
            <a:srgbClr val="141C25"/>
          </a:solidFill>
          <a:ln w="12700">
            <a:solidFill>
              <a:srgbClr val="00B4CC"/>
            </a:solidFill>
            <a:prstDash val="solid"/>
          </a:ln>
          <a:effectLst>
            <a:outerShdw sx="100000" sy="100000" kx="0" ky="0" algn="bl" rotWithShape="0" blurRad="76200" dist="25400" dir="8100000">
              <a:srgbClr val="000000">
                <a:alpha val="12000"/>
              </a:srgbClr>
            </a:outerShdw>
          </a:effectLst>
        </p:spPr>
      </p:sp>
      <p:sp>
        <p:nvSpPr>
          <p:cNvPr id="36" name="Text 34"/>
          <p:cNvSpPr/>
          <p:nvPr/>
        </p:nvSpPr>
        <p:spPr>
          <a:xfrm>
            <a:off x="4791456" y="4297680"/>
            <a:ext cx="1828800" cy="329184"/>
          </a:xfrm>
          <a:prstGeom prst="rect">
            <a:avLst/>
          </a:prstGeom>
          <a:noFill/>
          <a:ln/>
        </p:spPr>
        <p:txBody>
          <a:bodyPr wrap="square" lIns="0" tIns="0" rIns="0" bIns="0" rtlCol="0" anchor="ctr"/>
          <a:lstStyle/>
          <a:p>
            <a:pPr algn="ctr" indent="0" marL="0">
              <a:buNone/>
            </a:pPr>
            <a:r>
              <a:rPr lang="en-US" sz="2400" b="1" dirty="0">
                <a:solidFill>
                  <a:srgbClr val="FFB020"/>
                </a:solidFill>
                <a:latin typeface="Calibri" pitchFamily="34" charset="0"/>
                <a:ea typeface="Calibri" pitchFamily="34" charset="-122"/>
                <a:cs typeface="Calibri" pitchFamily="34" charset="-120"/>
              </a:rPr>
              <a:t>24</a:t>
            </a:r>
            <a:endParaRPr lang="en-US" sz="2400" dirty="0"/>
          </a:p>
        </p:txBody>
      </p:sp>
      <p:sp>
        <p:nvSpPr>
          <p:cNvPr id="37" name="Text 35"/>
          <p:cNvSpPr/>
          <p:nvPr/>
        </p:nvSpPr>
        <p:spPr>
          <a:xfrm>
            <a:off x="4791456" y="4599432"/>
            <a:ext cx="1828800" cy="201168"/>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Flight Tools</a:t>
            </a:r>
            <a:endParaRPr lang="en-US" sz="950" dirty="0"/>
          </a:p>
        </p:txBody>
      </p:sp>
      <p:sp>
        <p:nvSpPr>
          <p:cNvPr id="38" name="Shape 36"/>
          <p:cNvSpPr/>
          <p:nvPr/>
        </p:nvSpPr>
        <p:spPr>
          <a:xfrm>
            <a:off x="6894576" y="4279392"/>
            <a:ext cx="1965960" cy="640080"/>
          </a:xfrm>
          <a:prstGeom prst="rect">
            <a:avLst/>
          </a:prstGeom>
          <a:solidFill>
            <a:srgbClr val="141C25"/>
          </a:solidFill>
          <a:ln w="12700">
            <a:solidFill>
              <a:srgbClr val="00B4CC"/>
            </a:solidFill>
            <a:prstDash val="solid"/>
          </a:ln>
          <a:effectLst>
            <a:outerShdw sx="100000" sy="100000" kx="0" ky="0" algn="bl" rotWithShape="0" blurRad="76200" dist="25400" dir="8100000">
              <a:srgbClr val="000000">
                <a:alpha val="12000"/>
              </a:srgbClr>
            </a:outerShdw>
          </a:effectLst>
        </p:spPr>
      </p:sp>
      <p:sp>
        <p:nvSpPr>
          <p:cNvPr id="39" name="Text 37"/>
          <p:cNvSpPr/>
          <p:nvPr/>
        </p:nvSpPr>
        <p:spPr>
          <a:xfrm>
            <a:off x="6967728" y="4297680"/>
            <a:ext cx="1828800" cy="329184"/>
          </a:xfrm>
          <a:prstGeom prst="rect">
            <a:avLst/>
          </a:prstGeom>
          <a:noFill/>
          <a:ln/>
        </p:spPr>
        <p:txBody>
          <a:bodyPr wrap="square" lIns="0" tIns="0" rIns="0" bIns="0" rtlCol="0" anchor="ctr"/>
          <a:lstStyle/>
          <a:p>
            <a:pPr algn="ctr" indent="0" marL="0">
              <a:buNone/>
            </a:pPr>
            <a:r>
              <a:rPr lang="en-US" sz="2400" b="1" dirty="0">
                <a:solidFill>
                  <a:srgbClr val="FFB020"/>
                </a:solidFill>
                <a:latin typeface="Calibri" pitchFamily="34" charset="0"/>
                <a:ea typeface="Calibri" pitchFamily="34" charset="-122"/>
                <a:cs typeface="Calibri" pitchFamily="34" charset="-120"/>
              </a:rPr>
              <a:t>50</a:t>
            </a:r>
            <a:endParaRPr lang="en-US" sz="2400" dirty="0"/>
          </a:p>
        </p:txBody>
      </p:sp>
      <p:sp>
        <p:nvSpPr>
          <p:cNvPr id="40" name="Text 38"/>
          <p:cNvSpPr/>
          <p:nvPr/>
        </p:nvSpPr>
        <p:spPr>
          <a:xfrm>
            <a:off x="6967728" y="4599432"/>
            <a:ext cx="1828800" cy="201168"/>
          </a:xfrm>
          <a:prstGeom prst="rect">
            <a:avLst/>
          </a:prstGeom>
          <a:noFill/>
          <a:ln/>
        </p:spPr>
        <p:txBody>
          <a:bodyPr wrap="square" lIns="0" tIns="0" rIns="0" bIns="0"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E2E Tests Green</a:t>
            </a:r>
            <a:endParaRPr lang="en-US" sz="950" dirty="0"/>
          </a:p>
        </p:txBody>
      </p:sp>
      <p:sp>
        <p:nvSpPr>
          <p:cNvPr id="41" name="Text 39"/>
          <p:cNvSpPr/>
          <p:nvPr/>
        </p:nvSpPr>
        <p:spPr>
          <a:xfrm>
            <a:off x="320040" y="4919472"/>
            <a:ext cx="8503920" cy="164592"/>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ROADMAP.md (May 2026) · Fly-GACA-Review-Action-Plan.md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B020"/>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FFB020"/>
                </a:solidFill>
                <a:latin typeface="Calibri" pitchFamily="34" charset="0"/>
                <a:ea typeface="Calibri" pitchFamily="34" charset="-122"/>
                <a:cs typeface="Calibri" pitchFamily="34" charset="-120"/>
              </a:rPr>
              <a:t>MARKET</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400" b="1" dirty="0">
                <a:solidFill>
                  <a:srgbClr val="F0F4F8"/>
                </a:solidFill>
                <a:latin typeface="Calibri" pitchFamily="34" charset="0"/>
                <a:ea typeface="Calibri" pitchFamily="34" charset="-122"/>
                <a:cs typeface="Calibri" pitchFamily="34" charset="-120"/>
              </a:rPr>
              <a:t>Captive, under-served, Vision-2030-powered.</a:t>
            </a:r>
            <a:endParaRPr lang="en-US" sz="2400" dirty="0"/>
          </a:p>
        </p:txBody>
      </p:sp>
      <p:sp>
        <p:nvSpPr>
          <p:cNvPr id="5" name="Shape 3"/>
          <p:cNvSpPr/>
          <p:nvPr/>
        </p:nvSpPr>
        <p:spPr>
          <a:xfrm>
            <a:off x="274320" y="1371600"/>
            <a:ext cx="4206240" cy="1536192"/>
          </a:xfrm>
          <a:prstGeom prst="rect">
            <a:avLst/>
          </a:prstGeom>
          <a:solidFill>
            <a:srgbClr val="141C25"/>
          </a:solidFill>
          <a:ln w="12700">
            <a:solidFill>
              <a:srgbClr val="00B4CC"/>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457200" y="1481328"/>
            <a:ext cx="3840480" cy="640080"/>
          </a:xfrm>
          <a:prstGeom prst="rect">
            <a:avLst/>
          </a:prstGeom>
          <a:noFill/>
          <a:ln/>
        </p:spPr>
        <p:txBody>
          <a:bodyPr wrap="square" lIns="0" tIns="0" rIns="0" bIns="0" rtlCol="0" anchor="ctr"/>
          <a:lstStyle/>
          <a:p>
            <a:pPr indent="0" marL="0">
              <a:buNone/>
            </a:pPr>
            <a:r>
              <a:rPr lang="en-US" sz="3400" b="1" dirty="0">
                <a:solidFill>
                  <a:srgbClr val="00B4CC"/>
                </a:solidFill>
                <a:latin typeface="Calibri" pitchFamily="34" charset="0"/>
                <a:ea typeface="Calibri" pitchFamily="34" charset="-122"/>
                <a:cs typeface="Calibri" pitchFamily="34" charset="-120"/>
              </a:rPr>
              <a:t>~4,000</a:t>
            </a:r>
            <a:endParaRPr lang="en-US" sz="3400" dirty="0"/>
          </a:p>
        </p:txBody>
      </p:sp>
      <p:sp>
        <p:nvSpPr>
          <p:cNvPr id="7" name="Text 5"/>
          <p:cNvSpPr/>
          <p:nvPr/>
        </p:nvSpPr>
        <p:spPr>
          <a:xfrm>
            <a:off x="457200" y="2176272"/>
            <a:ext cx="3840480" cy="5029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Active student / ab-initio pilots in KSA today</a:t>
            </a:r>
            <a:endParaRPr lang="en-US" sz="1100" dirty="0"/>
          </a:p>
        </p:txBody>
      </p:sp>
      <p:sp>
        <p:nvSpPr>
          <p:cNvPr id="8" name="Text 6"/>
          <p:cNvSpPr/>
          <p:nvPr/>
        </p:nvSpPr>
        <p:spPr>
          <a:xfrm>
            <a:off x="457200" y="2724912"/>
            <a:ext cx="3657600" cy="164592"/>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Investor FAQ Q2</a:t>
            </a:r>
            <a:endParaRPr lang="en-US" sz="800" dirty="0"/>
          </a:p>
        </p:txBody>
      </p:sp>
      <p:sp>
        <p:nvSpPr>
          <p:cNvPr id="9" name="Shape 7"/>
          <p:cNvSpPr/>
          <p:nvPr/>
        </p:nvSpPr>
        <p:spPr>
          <a:xfrm>
            <a:off x="4736592" y="1371600"/>
            <a:ext cx="4206240" cy="1536192"/>
          </a:xfrm>
          <a:prstGeom prst="rect">
            <a:avLst/>
          </a:prstGeom>
          <a:solidFill>
            <a:srgbClr val="141C25"/>
          </a:solidFill>
          <a:ln w="12700">
            <a:solidFill>
              <a:srgbClr val="00B4CC"/>
            </a:solidFill>
            <a:prstDash val="solid"/>
          </a:ln>
          <a:effectLst>
            <a:outerShdw sx="100000" sy="100000" kx="0" ky="0" algn="bl" rotWithShape="0" blurRad="76200" dist="25400" dir="8100000">
              <a:srgbClr val="000000">
                <a:alpha val="12000"/>
              </a:srgbClr>
            </a:outerShdw>
          </a:effectLst>
        </p:spPr>
      </p:sp>
      <p:sp>
        <p:nvSpPr>
          <p:cNvPr id="10" name="Text 8"/>
          <p:cNvSpPr/>
          <p:nvPr/>
        </p:nvSpPr>
        <p:spPr>
          <a:xfrm>
            <a:off x="4919472" y="1481328"/>
            <a:ext cx="3840480" cy="640080"/>
          </a:xfrm>
          <a:prstGeom prst="rect">
            <a:avLst/>
          </a:prstGeom>
          <a:noFill/>
          <a:ln/>
        </p:spPr>
        <p:txBody>
          <a:bodyPr wrap="square" lIns="0" tIns="0" rIns="0" bIns="0" rtlCol="0" anchor="ctr"/>
          <a:lstStyle/>
          <a:p>
            <a:pPr indent="0" marL="0">
              <a:buNone/>
            </a:pPr>
            <a:r>
              <a:rPr lang="en-US" sz="3400" b="1" dirty="0">
                <a:solidFill>
                  <a:srgbClr val="00B4CC"/>
                </a:solidFill>
                <a:latin typeface="Calibri" pitchFamily="34" charset="0"/>
                <a:ea typeface="Calibri" pitchFamily="34" charset="-122"/>
                <a:cs typeface="Calibri" pitchFamily="34" charset="-120"/>
              </a:rPr>
              <a:t>~12,000</a:t>
            </a:r>
            <a:endParaRPr lang="en-US" sz="3400" dirty="0"/>
          </a:p>
        </p:txBody>
      </p:sp>
      <p:sp>
        <p:nvSpPr>
          <p:cNvPr id="11" name="Text 9"/>
          <p:cNvSpPr/>
          <p:nvPr/>
        </p:nvSpPr>
        <p:spPr>
          <a:xfrm>
            <a:off x="4919472" y="2176272"/>
            <a:ext cx="3840480" cy="5029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Working pilots maintaining currency in-Kingdom</a:t>
            </a:r>
            <a:endParaRPr lang="en-US" sz="1100" dirty="0"/>
          </a:p>
        </p:txBody>
      </p:sp>
      <p:sp>
        <p:nvSpPr>
          <p:cNvPr id="12" name="Text 10"/>
          <p:cNvSpPr/>
          <p:nvPr/>
        </p:nvSpPr>
        <p:spPr>
          <a:xfrm>
            <a:off x="4919472" y="2724912"/>
            <a:ext cx="3657600" cy="164592"/>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Investor FAQ Q2</a:t>
            </a:r>
            <a:endParaRPr lang="en-US" sz="800" dirty="0"/>
          </a:p>
        </p:txBody>
      </p:sp>
      <p:sp>
        <p:nvSpPr>
          <p:cNvPr id="13" name="Shape 11"/>
          <p:cNvSpPr/>
          <p:nvPr/>
        </p:nvSpPr>
        <p:spPr>
          <a:xfrm>
            <a:off x="274320" y="3090672"/>
            <a:ext cx="4206240" cy="1536192"/>
          </a:xfrm>
          <a:prstGeom prst="rect">
            <a:avLst/>
          </a:prstGeom>
          <a:solidFill>
            <a:srgbClr val="141C25"/>
          </a:solidFill>
          <a:ln w="12700">
            <a:solidFill>
              <a:srgbClr val="FFB020"/>
            </a:solidFill>
            <a:prstDash val="solid"/>
          </a:ln>
          <a:effectLst>
            <a:outerShdw sx="100000" sy="100000" kx="0" ky="0" algn="bl" rotWithShape="0" blurRad="76200" dist="25400" dir="8100000">
              <a:srgbClr val="000000">
                <a:alpha val="12000"/>
              </a:srgbClr>
            </a:outerShdw>
          </a:effectLst>
        </p:spPr>
      </p:sp>
      <p:sp>
        <p:nvSpPr>
          <p:cNvPr id="14" name="Text 12"/>
          <p:cNvSpPr/>
          <p:nvPr/>
        </p:nvSpPr>
        <p:spPr>
          <a:xfrm>
            <a:off x="457200" y="3200400"/>
            <a:ext cx="3840480" cy="640080"/>
          </a:xfrm>
          <a:prstGeom prst="rect">
            <a:avLst/>
          </a:prstGeom>
          <a:noFill/>
          <a:ln/>
        </p:spPr>
        <p:txBody>
          <a:bodyPr wrap="square" lIns="0" tIns="0" rIns="0" bIns="0" rtlCol="0" anchor="ctr"/>
          <a:lstStyle/>
          <a:p>
            <a:pPr indent="0" marL="0">
              <a:buNone/>
            </a:pPr>
            <a:r>
              <a:rPr lang="en-US" sz="3400" b="1" dirty="0">
                <a:solidFill>
                  <a:srgbClr val="FFB020"/>
                </a:solidFill>
                <a:latin typeface="Calibri" pitchFamily="34" charset="0"/>
                <a:ea typeface="Calibri" pitchFamily="34" charset="-122"/>
                <a:cs typeface="Calibri" pitchFamily="34" charset="-120"/>
              </a:rPr>
              <a:t>~800/yr</a:t>
            </a:r>
            <a:endParaRPr lang="en-US" sz="3400" dirty="0"/>
          </a:p>
        </p:txBody>
      </p:sp>
      <p:sp>
        <p:nvSpPr>
          <p:cNvPr id="15" name="Text 13"/>
          <p:cNvSpPr/>
          <p:nvPr/>
        </p:nvSpPr>
        <p:spPr>
          <a:xfrm>
            <a:off x="457200" y="3895344"/>
            <a:ext cx="3840480" cy="5029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New cadets added across 6 accredited academies</a:t>
            </a:r>
            <a:endParaRPr lang="en-US" sz="1100" dirty="0"/>
          </a:p>
        </p:txBody>
      </p:sp>
      <p:sp>
        <p:nvSpPr>
          <p:cNvPr id="16" name="Text 14"/>
          <p:cNvSpPr/>
          <p:nvPr/>
        </p:nvSpPr>
        <p:spPr>
          <a:xfrm>
            <a:off x="457200" y="4443984"/>
            <a:ext cx="3657600" cy="164592"/>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Investor FAQ Q2</a:t>
            </a:r>
            <a:endParaRPr lang="en-US" sz="800" dirty="0"/>
          </a:p>
        </p:txBody>
      </p:sp>
      <p:sp>
        <p:nvSpPr>
          <p:cNvPr id="17" name="Shape 15"/>
          <p:cNvSpPr/>
          <p:nvPr/>
        </p:nvSpPr>
        <p:spPr>
          <a:xfrm>
            <a:off x="4736592" y="3090672"/>
            <a:ext cx="4206240" cy="1536192"/>
          </a:xfrm>
          <a:prstGeom prst="rect">
            <a:avLst/>
          </a:prstGeom>
          <a:solidFill>
            <a:srgbClr val="141C25"/>
          </a:solidFill>
          <a:ln w="12700">
            <a:solidFill>
              <a:srgbClr val="FFB020"/>
            </a:solidFill>
            <a:prstDash val="solid"/>
          </a:ln>
          <a:effectLst>
            <a:outerShdw sx="100000" sy="100000" kx="0" ky="0" algn="bl" rotWithShape="0" blurRad="76200" dist="25400" dir="8100000">
              <a:srgbClr val="000000">
                <a:alpha val="12000"/>
              </a:srgbClr>
            </a:outerShdw>
          </a:effectLst>
        </p:spPr>
      </p:sp>
      <p:sp>
        <p:nvSpPr>
          <p:cNvPr id="18" name="Text 16"/>
          <p:cNvSpPr/>
          <p:nvPr/>
        </p:nvSpPr>
        <p:spPr>
          <a:xfrm>
            <a:off x="4919472" y="3200400"/>
            <a:ext cx="3840480" cy="640080"/>
          </a:xfrm>
          <a:prstGeom prst="rect">
            <a:avLst/>
          </a:prstGeom>
          <a:noFill/>
          <a:ln/>
        </p:spPr>
        <p:txBody>
          <a:bodyPr wrap="square" lIns="0" tIns="0" rIns="0" bIns="0" rtlCol="0" anchor="ctr"/>
          <a:lstStyle/>
          <a:p>
            <a:pPr indent="0" marL="0">
              <a:buNone/>
            </a:pPr>
            <a:r>
              <a:rPr lang="en-US" sz="3400" b="1" dirty="0">
                <a:solidFill>
                  <a:srgbClr val="FFB020"/>
                </a:solidFill>
                <a:latin typeface="Calibri" pitchFamily="34" charset="0"/>
                <a:ea typeface="Calibri" pitchFamily="34" charset="-122"/>
                <a:cs typeface="Calibri" pitchFamily="34" charset="-120"/>
              </a:rPr>
              <a:t>15M+ SAR</a:t>
            </a:r>
            <a:endParaRPr lang="en-US" sz="3400" dirty="0"/>
          </a:p>
        </p:txBody>
      </p:sp>
      <p:sp>
        <p:nvSpPr>
          <p:cNvPr id="19" name="Text 17"/>
          <p:cNvSpPr/>
          <p:nvPr/>
        </p:nvSpPr>
        <p:spPr>
          <a:xfrm>
            <a:off x="4919472" y="3895344"/>
            <a:ext cx="3840480" cy="5029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Serviceable ARR ceiling by Year 5 (KSA + MENA white-label)</a:t>
            </a:r>
            <a:endParaRPr lang="en-US" sz="1100" dirty="0"/>
          </a:p>
        </p:txBody>
      </p:sp>
      <p:sp>
        <p:nvSpPr>
          <p:cNvPr id="20" name="Text 18"/>
          <p:cNvSpPr/>
          <p:nvPr/>
        </p:nvSpPr>
        <p:spPr>
          <a:xfrm>
            <a:off x="4919472" y="4443984"/>
            <a:ext cx="3657600" cy="164592"/>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Investor FAQ Q2</a:t>
            </a:r>
            <a:endParaRPr lang="en-US" sz="800" dirty="0"/>
          </a:p>
        </p:txBody>
      </p:sp>
      <p:sp>
        <p:nvSpPr>
          <p:cNvPr id="21" name="Text 19"/>
          <p:cNvSpPr/>
          <p:nvPr/>
        </p:nvSpPr>
        <p:spPr>
          <a:xfrm>
            <a:off x="320040" y="4828032"/>
            <a:ext cx="8503920" cy="201168"/>
          </a:xfrm>
          <a:prstGeom prst="rect">
            <a:avLst/>
          </a:prstGeom>
          <a:noFill/>
          <a:ln/>
        </p:spPr>
        <p:txBody>
          <a:bodyPr wrap="square" lIns="0" tIns="0" rIns="0" bIns="0" rtlCol="0" anchor="ctr"/>
          <a:lstStyle/>
          <a:p>
            <a:pPr indent="0" marL="0">
              <a:buNone/>
            </a:pPr>
            <a:r>
              <a:rPr lang="en-US" sz="850" i="1" dirty="0">
                <a:solidFill>
                  <a:srgbClr val="94A3B8"/>
                </a:solidFill>
                <a:latin typeface="Calibri" pitchFamily="34" charset="0"/>
                <a:ea typeface="Calibri" pitchFamily="34" charset="-122"/>
                <a:cs typeface="Calibri" pitchFamily="34" charset="-120"/>
              </a:rPr>
              <a:t>Conservative model: 11.2M SAR ARR at Year 5 (below 15M+ ceiling) · Investor FAQ Q2 / Q3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CC"/>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00B4CC"/>
                </a:solidFill>
                <a:latin typeface="Calibri" pitchFamily="34" charset="0"/>
                <a:ea typeface="Calibri" pitchFamily="34" charset="-122"/>
                <a:cs typeface="Calibri" pitchFamily="34" charset="-120"/>
              </a:rPr>
              <a:t>BUSINESS MODEL</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100" b="1" dirty="0">
                <a:solidFill>
                  <a:srgbClr val="F0F4F8"/>
                </a:solidFill>
                <a:latin typeface="Calibri" pitchFamily="34" charset="0"/>
                <a:ea typeface="Calibri" pitchFamily="34" charset="-122"/>
                <a:cs typeface="Calibri" pitchFamily="34" charset="-120"/>
              </a:rPr>
              <a:t>Regulations free forever · charge for tools, AI &amp; teaching.</a:t>
            </a:r>
            <a:endParaRPr lang="en-US" sz="2100" dirty="0"/>
          </a:p>
        </p:txBody>
      </p:sp>
      <p:sp>
        <p:nvSpPr>
          <p:cNvPr id="5" name="Shape 3"/>
          <p:cNvSpPr/>
          <p:nvPr/>
        </p:nvSpPr>
        <p:spPr>
          <a:xfrm>
            <a:off x="201168" y="1325880"/>
            <a:ext cx="2057400" cy="361188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6" name="Shape 4"/>
          <p:cNvSpPr/>
          <p:nvPr/>
        </p:nvSpPr>
        <p:spPr>
          <a:xfrm>
            <a:off x="201168" y="1325880"/>
            <a:ext cx="2057400" cy="54864"/>
          </a:xfrm>
          <a:prstGeom prst="rect">
            <a:avLst/>
          </a:prstGeom>
          <a:solidFill>
            <a:srgbClr val="64748B"/>
          </a:solidFill>
          <a:ln/>
        </p:spPr>
      </p:sp>
      <p:sp>
        <p:nvSpPr>
          <p:cNvPr id="7" name="Text 5"/>
          <p:cNvSpPr/>
          <p:nvPr/>
        </p:nvSpPr>
        <p:spPr>
          <a:xfrm>
            <a:off x="292608" y="1417320"/>
            <a:ext cx="1874520" cy="384048"/>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FREE</a:t>
            </a:r>
            <a:endParaRPr lang="en-US" sz="1400" dirty="0"/>
          </a:p>
        </p:txBody>
      </p:sp>
      <p:sp>
        <p:nvSpPr>
          <p:cNvPr id="8" name="Text 6"/>
          <p:cNvSpPr/>
          <p:nvPr/>
        </p:nvSpPr>
        <p:spPr>
          <a:xfrm>
            <a:off x="292608" y="1801368"/>
            <a:ext cx="1874520" cy="4572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Library · 5 Adel Q/mo · 3 tool runs/day</a:t>
            </a:r>
            <a:endParaRPr lang="en-US" sz="850" dirty="0"/>
          </a:p>
        </p:txBody>
      </p:sp>
      <p:sp>
        <p:nvSpPr>
          <p:cNvPr id="9" name="Shape 7"/>
          <p:cNvSpPr/>
          <p:nvPr/>
        </p:nvSpPr>
        <p:spPr>
          <a:xfrm>
            <a:off x="292608" y="2286000"/>
            <a:ext cx="1874520" cy="16459"/>
          </a:xfrm>
          <a:prstGeom prst="rect">
            <a:avLst/>
          </a:prstGeom>
          <a:solidFill>
            <a:srgbClr val="1E2D3D"/>
          </a:solidFill>
          <a:ln/>
        </p:spPr>
      </p:sp>
      <p:sp>
        <p:nvSpPr>
          <p:cNvPr id="10" name="Text 8"/>
          <p:cNvSpPr/>
          <p:nvPr/>
        </p:nvSpPr>
        <p:spPr>
          <a:xfrm>
            <a:off x="292608" y="2359152"/>
            <a:ext cx="1901952" cy="2468880"/>
          </a:xfrm>
          <a:prstGeom prst="rect">
            <a:avLst/>
          </a:prstGeom>
          <a:noFill/>
          <a:ln/>
        </p:spPr>
        <p:txBody>
          <a:bodyPr wrap="square" rtlCol="0" anchor="ctr"/>
          <a:lstStyle/>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GACAR Library free forever (SEO moat)</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5 Captain Adel questions/month</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3 Flight Tool runs/day</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All Guides free</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No account required</a:t>
            </a:r>
            <a:endParaRPr lang="en-US" sz="950" dirty="0"/>
          </a:p>
        </p:txBody>
      </p:sp>
      <p:sp>
        <p:nvSpPr>
          <p:cNvPr id="11" name="Shape 9"/>
          <p:cNvSpPr/>
          <p:nvPr/>
        </p:nvSpPr>
        <p:spPr>
          <a:xfrm>
            <a:off x="2395728" y="1325880"/>
            <a:ext cx="2057400" cy="361188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12" name="Shape 10"/>
          <p:cNvSpPr/>
          <p:nvPr/>
        </p:nvSpPr>
        <p:spPr>
          <a:xfrm>
            <a:off x="2395728" y="1325880"/>
            <a:ext cx="2057400" cy="54864"/>
          </a:xfrm>
          <a:prstGeom prst="rect">
            <a:avLst/>
          </a:prstGeom>
          <a:solidFill>
            <a:srgbClr val="00B4CC"/>
          </a:solidFill>
          <a:ln/>
        </p:spPr>
      </p:sp>
      <p:sp>
        <p:nvSpPr>
          <p:cNvPr id="13" name="Text 11"/>
          <p:cNvSpPr/>
          <p:nvPr/>
        </p:nvSpPr>
        <p:spPr>
          <a:xfrm>
            <a:off x="2487168" y="1417320"/>
            <a:ext cx="1874520" cy="384048"/>
          </a:xfrm>
          <a:prstGeom prst="rect">
            <a:avLst/>
          </a:prstGeom>
          <a:noFill/>
          <a:ln/>
        </p:spPr>
        <p:txBody>
          <a:bodyPr wrap="square" lIns="0" tIns="0" rIns="0" bIns="0" rtlCol="0" anchor="ctr"/>
          <a:lstStyle/>
          <a:p>
            <a:pPr indent="0" marL="0">
              <a:buNone/>
            </a:pPr>
            <a:r>
              <a:rPr lang="en-US" sz="1400" b="1" dirty="0">
                <a:solidFill>
                  <a:srgbClr val="00B4CC"/>
                </a:solidFill>
                <a:latin typeface="Calibri" pitchFamily="34" charset="0"/>
                <a:ea typeface="Calibri" pitchFamily="34" charset="-122"/>
                <a:cs typeface="Calibri" pitchFamily="34" charset="-120"/>
              </a:rPr>
              <a:t>PRO</a:t>
            </a:r>
            <a:endParaRPr lang="en-US" sz="1400" dirty="0"/>
          </a:p>
        </p:txBody>
      </p:sp>
      <p:sp>
        <p:nvSpPr>
          <p:cNvPr id="14" name="Text 12"/>
          <p:cNvSpPr/>
          <p:nvPr/>
        </p:nvSpPr>
        <p:spPr>
          <a:xfrm>
            <a:off x="2487168" y="1801368"/>
            <a:ext cx="1874520" cy="4572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SAR 59/mo · SAR 349/yr (≈29/mo)</a:t>
            </a:r>
            <a:endParaRPr lang="en-US" sz="850" dirty="0"/>
          </a:p>
        </p:txBody>
      </p:sp>
      <p:sp>
        <p:nvSpPr>
          <p:cNvPr id="15" name="Shape 13"/>
          <p:cNvSpPr/>
          <p:nvPr/>
        </p:nvSpPr>
        <p:spPr>
          <a:xfrm>
            <a:off x="2487168" y="2286000"/>
            <a:ext cx="1874520" cy="16459"/>
          </a:xfrm>
          <a:prstGeom prst="rect">
            <a:avLst/>
          </a:prstGeom>
          <a:solidFill>
            <a:srgbClr val="1E2D3D"/>
          </a:solidFill>
          <a:ln/>
        </p:spPr>
      </p:sp>
      <p:sp>
        <p:nvSpPr>
          <p:cNvPr id="16" name="Text 14"/>
          <p:cNvSpPr/>
          <p:nvPr/>
        </p:nvSpPr>
        <p:spPr>
          <a:xfrm>
            <a:off x="2487168" y="2359152"/>
            <a:ext cx="1901952" cy="2468880"/>
          </a:xfrm>
          <a:prstGeom prst="rect">
            <a:avLst/>
          </a:prstGeom>
          <a:noFill/>
          <a:ln/>
        </p:spPr>
        <p:txBody>
          <a:bodyPr wrap="square" rtlCol="0" anchor="ctr"/>
          <a:lstStyle/>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Unlimited Captain Adel</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All 24 Flight Tools</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Ground School + 162-Q bank</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Digital logbook + currency</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7-day trial · annual default</a:t>
            </a:r>
            <a:endParaRPr lang="en-US" sz="950" dirty="0"/>
          </a:p>
        </p:txBody>
      </p:sp>
      <p:sp>
        <p:nvSpPr>
          <p:cNvPr id="17" name="Shape 15"/>
          <p:cNvSpPr/>
          <p:nvPr/>
        </p:nvSpPr>
        <p:spPr>
          <a:xfrm>
            <a:off x="4590288" y="1325880"/>
            <a:ext cx="2057400" cy="361188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18" name="Shape 16"/>
          <p:cNvSpPr/>
          <p:nvPr/>
        </p:nvSpPr>
        <p:spPr>
          <a:xfrm>
            <a:off x="4590288" y="1325880"/>
            <a:ext cx="2057400" cy="54864"/>
          </a:xfrm>
          <a:prstGeom prst="rect">
            <a:avLst/>
          </a:prstGeom>
          <a:solidFill>
            <a:srgbClr val="FFB020"/>
          </a:solidFill>
          <a:ln/>
        </p:spPr>
      </p:sp>
      <p:sp>
        <p:nvSpPr>
          <p:cNvPr id="19" name="Text 17"/>
          <p:cNvSpPr/>
          <p:nvPr/>
        </p:nvSpPr>
        <p:spPr>
          <a:xfrm>
            <a:off x="4681728" y="1417320"/>
            <a:ext cx="1874520" cy="384048"/>
          </a:xfrm>
          <a:prstGeom prst="rect">
            <a:avLst/>
          </a:prstGeom>
          <a:noFill/>
          <a:ln/>
        </p:spPr>
        <p:txBody>
          <a:bodyPr wrap="square" lIns="0" tIns="0" rIns="0" bIns="0" rtlCol="0" anchor="ctr"/>
          <a:lstStyle/>
          <a:p>
            <a:pPr indent="0" marL="0">
              <a:buNone/>
            </a:pPr>
            <a:r>
              <a:rPr lang="en-US" sz="1400" b="1" dirty="0">
                <a:solidFill>
                  <a:srgbClr val="FFB020"/>
                </a:solidFill>
                <a:latin typeface="Calibri" pitchFamily="34" charset="0"/>
                <a:ea typeface="Calibri" pitchFamily="34" charset="-122"/>
                <a:cs typeface="Calibri" pitchFamily="34" charset="-120"/>
              </a:rPr>
              <a:t>PREP PACKS</a:t>
            </a:r>
            <a:endParaRPr lang="en-US" sz="1400" dirty="0"/>
          </a:p>
        </p:txBody>
      </p:sp>
      <p:sp>
        <p:nvSpPr>
          <p:cNvPr id="20" name="Text 18"/>
          <p:cNvSpPr/>
          <p:nvPr/>
        </p:nvSpPr>
        <p:spPr>
          <a:xfrm>
            <a:off x="4681728" y="1801368"/>
            <a:ext cx="1874520" cy="4572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SAR 299–1,699 one-time</a:t>
            </a:r>
            <a:endParaRPr lang="en-US" sz="850" dirty="0"/>
          </a:p>
        </p:txBody>
      </p:sp>
      <p:sp>
        <p:nvSpPr>
          <p:cNvPr id="21" name="Shape 19"/>
          <p:cNvSpPr/>
          <p:nvPr/>
        </p:nvSpPr>
        <p:spPr>
          <a:xfrm>
            <a:off x="4681728" y="2286000"/>
            <a:ext cx="1874520" cy="16459"/>
          </a:xfrm>
          <a:prstGeom prst="rect">
            <a:avLst/>
          </a:prstGeom>
          <a:solidFill>
            <a:srgbClr val="1E2D3D"/>
          </a:solidFill>
          <a:ln/>
        </p:spPr>
      </p:sp>
      <p:sp>
        <p:nvSpPr>
          <p:cNvPr id="22" name="Text 20"/>
          <p:cNvSpPr/>
          <p:nvPr/>
        </p:nvSpPr>
        <p:spPr>
          <a:xfrm>
            <a:off x="4681728" y="2359152"/>
            <a:ext cx="1901952" cy="2468880"/>
          </a:xfrm>
          <a:prstGeom prst="rect">
            <a:avLst/>
          </a:prstGeom>
          <a:noFill/>
          <a:ln/>
        </p:spPr>
        <p:txBody>
          <a:bodyPr wrap="square" rtlCol="0" anchor="ctr"/>
          <a:lstStyle/>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Licence Conversion — SAR 899 (699 launch)</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ELPT/SAELPT Pack — SAR 349</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AIP Prep Pack — SAR 299</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Bundle (all 3) — SAR 1,299</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1:1 Consult — SAR 899 (699 launch)</a:t>
            </a:r>
            <a:endParaRPr lang="en-US" sz="950" dirty="0"/>
          </a:p>
        </p:txBody>
      </p:sp>
      <p:sp>
        <p:nvSpPr>
          <p:cNvPr id="23" name="Shape 21"/>
          <p:cNvSpPr/>
          <p:nvPr/>
        </p:nvSpPr>
        <p:spPr>
          <a:xfrm>
            <a:off x="6784848" y="1325880"/>
            <a:ext cx="2057400" cy="361188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24" name="Shape 22"/>
          <p:cNvSpPr/>
          <p:nvPr/>
        </p:nvSpPr>
        <p:spPr>
          <a:xfrm>
            <a:off x="6784848" y="1325880"/>
            <a:ext cx="2057400" cy="54864"/>
          </a:xfrm>
          <a:prstGeom prst="rect">
            <a:avLst/>
          </a:prstGeom>
          <a:solidFill>
            <a:srgbClr val="A855F7"/>
          </a:solidFill>
          <a:ln/>
        </p:spPr>
      </p:sp>
      <p:sp>
        <p:nvSpPr>
          <p:cNvPr id="25" name="Text 23"/>
          <p:cNvSpPr/>
          <p:nvPr/>
        </p:nvSpPr>
        <p:spPr>
          <a:xfrm>
            <a:off x="6876288" y="1417320"/>
            <a:ext cx="1874520" cy="384048"/>
          </a:xfrm>
          <a:prstGeom prst="rect">
            <a:avLst/>
          </a:prstGeom>
          <a:noFill/>
          <a:ln/>
        </p:spPr>
        <p:txBody>
          <a:bodyPr wrap="square" lIns="0" tIns="0" rIns="0" bIns="0" rtlCol="0" anchor="ctr"/>
          <a:lstStyle/>
          <a:p>
            <a:pPr indent="0" marL="0">
              <a:buNone/>
            </a:pPr>
            <a:r>
              <a:rPr lang="en-US" sz="1400" b="1" dirty="0">
                <a:solidFill>
                  <a:srgbClr val="A855F7"/>
                </a:solidFill>
                <a:latin typeface="Calibri" pitchFamily="34" charset="0"/>
                <a:ea typeface="Calibri" pitchFamily="34" charset="-122"/>
                <a:cs typeface="Calibri" pitchFamily="34" charset="-120"/>
              </a:rPr>
              <a:t>B2B SCHOOLS</a:t>
            </a:r>
            <a:endParaRPr lang="en-US" sz="1400" dirty="0"/>
          </a:p>
        </p:txBody>
      </p:sp>
      <p:sp>
        <p:nvSpPr>
          <p:cNvPr id="26" name="Text 24"/>
          <p:cNvSpPr/>
          <p:nvPr/>
        </p:nvSpPr>
        <p:spPr>
          <a:xfrm>
            <a:off x="6876288" y="1801368"/>
            <a:ext cx="1874520" cy="4572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SAR 199–299/seat/yr · min 10 seats</a:t>
            </a:r>
            <a:endParaRPr lang="en-US" sz="850" dirty="0"/>
          </a:p>
        </p:txBody>
      </p:sp>
      <p:sp>
        <p:nvSpPr>
          <p:cNvPr id="27" name="Shape 25"/>
          <p:cNvSpPr/>
          <p:nvPr/>
        </p:nvSpPr>
        <p:spPr>
          <a:xfrm>
            <a:off x="6876288" y="2286000"/>
            <a:ext cx="1874520" cy="16459"/>
          </a:xfrm>
          <a:prstGeom prst="rect">
            <a:avLst/>
          </a:prstGeom>
          <a:solidFill>
            <a:srgbClr val="1E2D3D"/>
          </a:solidFill>
          <a:ln/>
        </p:spPr>
      </p:sp>
      <p:sp>
        <p:nvSpPr>
          <p:cNvPr id="28" name="Text 26"/>
          <p:cNvSpPr/>
          <p:nvPr/>
        </p:nvSpPr>
        <p:spPr>
          <a:xfrm>
            <a:off x="6876288" y="2359152"/>
            <a:ext cx="1901952" cy="2468880"/>
          </a:xfrm>
          <a:prstGeom prst="rect">
            <a:avLst/>
          </a:prstGeom>
          <a:noFill/>
          <a:ln/>
        </p:spPr>
        <p:txBody>
          <a:bodyPr wrap="square" rtlCol="0" anchor="ctr"/>
          <a:lstStyle/>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Cohort admin dashboard included</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10–24 seats: SAR 299/seat/yr</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25–74 seats: SAR 249/seat/yr</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75+ seats: SAR 199/seat/yr</a:t>
            </a:r>
            <a:endParaRPr lang="en-US" sz="950" dirty="0"/>
          </a:p>
          <a:p>
            <a:pPr marL="342900" indent="-342900">
              <a:spcAft>
                <a:spcPts val="300"/>
              </a:spcAft>
              <a:buSzPct val="100000"/>
              <a:buChar char="•"/>
            </a:pPr>
            <a:r>
              <a:rPr lang="en-US" sz="950" dirty="0">
                <a:solidFill>
                  <a:srgbClr val="F0F4F8"/>
                </a:solidFill>
                <a:latin typeface="Calibri" pitchFamily="34" charset="0"/>
                <a:ea typeface="Calibri" pitchFamily="34" charset="-122"/>
                <a:cs typeface="Calibri" pitchFamily="34" charset="-120"/>
              </a:rPr>
              <a:t>Year-1 logic: 10 schools × 50 seats × 249 ≈ SAR 125k ARR</a:t>
            </a:r>
            <a:endParaRPr lang="en-US" sz="950" dirty="0"/>
          </a:p>
        </p:txBody>
      </p:sp>
      <p:sp>
        <p:nvSpPr>
          <p:cNvPr id="29" name="Text 27"/>
          <p:cNvSpPr/>
          <p:nvPr/>
        </p:nvSpPr>
        <p:spPr>
          <a:xfrm>
            <a:off x="320040" y="4828032"/>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Prices from MONETIZATION.md (adopted June 2026) · B2B logic from MONETIZATION.md §Phase 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B020"/>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FFB020"/>
                </a:solidFill>
                <a:latin typeface="Calibri" pitchFamily="34" charset="0"/>
                <a:ea typeface="Calibri" pitchFamily="34" charset="-122"/>
                <a:cs typeface="Calibri" pitchFamily="34" charset="-120"/>
              </a:rPr>
              <a:t>UNIT ECONOMICS</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400" b="1" dirty="0">
                <a:solidFill>
                  <a:srgbClr val="F0F4F8"/>
                </a:solidFill>
                <a:latin typeface="Calibri" pitchFamily="34" charset="0"/>
                <a:ea typeface="Calibri" pitchFamily="34" charset="-122"/>
                <a:cs typeface="Calibri" pitchFamily="34" charset="-120"/>
              </a:rPr>
              <a:t>Two channels · very different LTV:CAC profiles.</a:t>
            </a:r>
            <a:endParaRPr lang="en-US" sz="2400" dirty="0"/>
          </a:p>
        </p:txBody>
      </p:sp>
      <p:sp>
        <p:nvSpPr>
          <p:cNvPr id="5" name="Shape 3"/>
          <p:cNvSpPr/>
          <p:nvPr/>
        </p:nvSpPr>
        <p:spPr>
          <a:xfrm>
            <a:off x="274320" y="1371600"/>
            <a:ext cx="4160520" cy="347472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6" name="Shape 4"/>
          <p:cNvSpPr/>
          <p:nvPr/>
        </p:nvSpPr>
        <p:spPr>
          <a:xfrm>
            <a:off x="274320" y="1371600"/>
            <a:ext cx="4160520" cy="54864"/>
          </a:xfrm>
          <a:prstGeom prst="rect">
            <a:avLst/>
          </a:prstGeom>
          <a:solidFill>
            <a:srgbClr val="00B4CC"/>
          </a:solidFill>
          <a:ln/>
        </p:spPr>
      </p:sp>
      <p:sp>
        <p:nvSpPr>
          <p:cNvPr id="7" name="Text 5"/>
          <p:cNvSpPr/>
          <p:nvPr/>
        </p:nvSpPr>
        <p:spPr>
          <a:xfrm>
            <a:off x="411480" y="1481328"/>
            <a:ext cx="3931920" cy="365760"/>
          </a:xfrm>
          <a:prstGeom prst="rect">
            <a:avLst/>
          </a:prstGeom>
          <a:noFill/>
          <a:ln/>
        </p:spPr>
        <p:txBody>
          <a:bodyPr wrap="square" lIns="0" tIns="0" rIns="0" bIns="0" rtlCol="0" anchor="ctr"/>
          <a:lstStyle/>
          <a:p>
            <a:pPr indent="0" marL="0">
              <a:buNone/>
            </a:pPr>
            <a:r>
              <a:rPr lang="en-US" sz="1400" b="1" dirty="0">
                <a:solidFill>
                  <a:srgbClr val="00B4CC"/>
                </a:solidFill>
                <a:latin typeface="Calibri" pitchFamily="34" charset="0"/>
                <a:ea typeface="Calibri" pitchFamily="34" charset="-122"/>
                <a:cs typeface="Calibri" pitchFamily="34" charset="-120"/>
              </a:rPr>
              <a:t>PRO (Consumer)</a:t>
            </a:r>
            <a:endParaRPr lang="en-US" sz="1400" dirty="0"/>
          </a:p>
        </p:txBody>
      </p:sp>
      <p:sp>
        <p:nvSpPr>
          <p:cNvPr id="8" name="Text 6"/>
          <p:cNvSpPr/>
          <p:nvPr/>
        </p:nvSpPr>
        <p:spPr>
          <a:xfrm>
            <a:off x="411480" y="1956816"/>
            <a:ext cx="201168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CAC</a:t>
            </a:r>
            <a:endParaRPr lang="en-US" sz="1200" dirty="0"/>
          </a:p>
        </p:txBody>
      </p:sp>
      <p:sp>
        <p:nvSpPr>
          <p:cNvPr id="9" name="Text 7"/>
          <p:cNvSpPr/>
          <p:nvPr/>
        </p:nvSpPr>
        <p:spPr>
          <a:xfrm>
            <a:off x="2514600" y="1956816"/>
            <a:ext cx="1719072" cy="320040"/>
          </a:xfrm>
          <a:prstGeom prst="rect">
            <a:avLst/>
          </a:prstGeom>
          <a:noFill/>
          <a:ln/>
        </p:spPr>
        <p:txBody>
          <a:bodyPr wrap="square" lIns="0" tIns="0" rIns="0" bIns="0" rtlCol="0" anchor="ctr"/>
          <a:lstStyle/>
          <a:p>
            <a:pPr algn="r" indent="0" marL="0">
              <a:buNone/>
            </a:pPr>
            <a:r>
              <a:rPr lang="en-US" sz="1700" b="1" dirty="0">
                <a:solidFill>
                  <a:srgbClr val="F0F4F8"/>
                </a:solidFill>
                <a:latin typeface="Calibri" pitchFamily="34" charset="0"/>
                <a:ea typeface="Calibri" pitchFamily="34" charset="-122"/>
                <a:cs typeface="Calibri" pitchFamily="34" charset="-120"/>
              </a:rPr>
              <a:t>SAR 60</a:t>
            </a:r>
            <a:endParaRPr lang="en-US" sz="1700" dirty="0"/>
          </a:p>
        </p:txBody>
      </p:sp>
      <p:sp>
        <p:nvSpPr>
          <p:cNvPr id="10" name="Text 8"/>
          <p:cNvSpPr/>
          <p:nvPr/>
        </p:nvSpPr>
        <p:spPr>
          <a:xfrm>
            <a:off x="411480" y="2596896"/>
            <a:ext cx="201168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LTV (1-yr)</a:t>
            </a:r>
            <a:endParaRPr lang="en-US" sz="1200" dirty="0"/>
          </a:p>
        </p:txBody>
      </p:sp>
      <p:sp>
        <p:nvSpPr>
          <p:cNvPr id="11" name="Text 9"/>
          <p:cNvSpPr/>
          <p:nvPr/>
        </p:nvSpPr>
        <p:spPr>
          <a:xfrm>
            <a:off x="2514600" y="2596896"/>
            <a:ext cx="1719072" cy="320040"/>
          </a:xfrm>
          <a:prstGeom prst="rect">
            <a:avLst/>
          </a:prstGeom>
          <a:noFill/>
          <a:ln/>
        </p:spPr>
        <p:txBody>
          <a:bodyPr wrap="square" lIns="0" tIns="0" rIns="0" bIns="0" rtlCol="0" anchor="ctr"/>
          <a:lstStyle/>
          <a:p>
            <a:pPr algn="r" indent="0" marL="0">
              <a:buNone/>
            </a:pPr>
            <a:r>
              <a:rPr lang="en-US" sz="1700" b="1" dirty="0">
                <a:solidFill>
                  <a:srgbClr val="F0F4F8"/>
                </a:solidFill>
                <a:latin typeface="Calibri" pitchFamily="34" charset="0"/>
                <a:ea typeface="Calibri" pitchFamily="34" charset="-122"/>
                <a:cs typeface="Calibri" pitchFamily="34" charset="-120"/>
              </a:rPr>
              <a:t>SAR 290</a:t>
            </a:r>
            <a:endParaRPr lang="en-US" sz="1700" dirty="0"/>
          </a:p>
        </p:txBody>
      </p:sp>
      <p:sp>
        <p:nvSpPr>
          <p:cNvPr id="12" name="Text 10"/>
          <p:cNvSpPr/>
          <p:nvPr/>
        </p:nvSpPr>
        <p:spPr>
          <a:xfrm>
            <a:off x="411480" y="3236976"/>
            <a:ext cx="201168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LTV (3-yr)</a:t>
            </a:r>
            <a:endParaRPr lang="en-US" sz="1200" dirty="0"/>
          </a:p>
        </p:txBody>
      </p:sp>
      <p:sp>
        <p:nvSpPr>
          <p:cNvPr id="13" name="Text 11"/>
          <p:cNvSpPr/>
          <p:nvPr/>
        </p:nvSpPr>
        <p:spPr>
          <a:xfrm>
            <a:off x="2514600" y="3236976"/>
            <a:ext cx="1719072" cy="320040"/>
          </a:xfrm>
          <a:prstGeom prst="rect">
            <a:avLst/>
          </a:prstGeom>
          <a:noFill/>
          <a:ln/>
        </p:spPr>
        <p:txBody>
          <a:bodyPr wrap="square" lIns="0" tIns="0" rIns="0" bIns="0" rtlCol="0" anchor="ctr"/>
          <a:lstStyle/>
          <a:p>
            <a:pPr algn="r" indent="0" marL="0">
              <a:buNone/>
            </a:pPr>
            <a:r>
              <a:rPr lang="en-US" sz="1700" b="1" dirty="0">
                <a:solidFill>
                  <a:srgbClr val="F0F4F8"/>
                </a:solidFill>
                <a:latin typeface="Calibri" pitchFamily="34" charset="0"/>
                <a:ea typeface="Calibri" pitchFamily="34" charset="-122"/>
                <a:cs typeface="Calibri" pitchFamily="34" charset="-120"/>
              </a:rPr>
              <a:t>SAR 870</a:t>
            </a:r>
            <a:endParaRPr lang="en-US" sz="1700" dirty="0"/>
          </a:p>
        </p:txBody>
      </p:sp>
      <p:sp>
        <p:nvSpPr>
          <p:cNvPr id="14" name="Text 12"/>
          <p:cNvSpPr/>
          <p:nvPr/>
        </p:nvSpPr>
        <p:spPr>
          <a:xfrm>
            <a:off x="411480" y="3877056"/>
            <a:ext cx="2011680"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LTV:CAC</a:t>
            </a:r>
            <a:endParaRPr lang="en-US" sz="1200" dirty="0"/>
          </a:p>
        </p:txBody>
      </p:sp>
      <p:sp>
        <p:nvSpPr>
          <p:cNvPr id="15" name="Text 13"/>
          <p:cNvSpPr/>
          <p:nvPr/>
        </p:nvSpPr>
        <p:spPr>
          <a:xfrm>
            <a:off x="2514600" y="3877056"/>
            <a:ext cx="1719072" cy="320040"/>
          </a:xfrm>
          <a:prstGeom prst="rect">
            <a:avLst/>
          </a:prstGeom>
          <a:noFill/>
          <a:ln/>
        </p:spPr>
        <p:txBody>
          <a:bodyPr wrap="square" lIns="0" tIns="0" rIns="0" bIns="0" rtlCol="0" anchor="ctr"/>
          <a:lstStyle/>
          <a:p>
            <a:pPr algn="r" indent="0" marL="0">
              <a:buNone/>
            </a:pPr>
            <a:r>
              <a:rPr lang="en-US" sz="1700" b="1" dirty="0">
                <a:solidFill>
                  <a:srgbClr val="F0F4F8"/>
                </a:solidFill>
                <a:latin typeface="Calibri" pitchFamily="34" charset="0"/>
                <a:ea typeface="Calibri" pitchFamily="34" charset="-122"/>
                <a:cs typeface="Calibri" pitchFamily="34" charset="-120"/>
              </a:rPr>
              <a:t>4.8×</a:t>
            </a:r>
            <a:endParaRPr lang="en-US" sz="1700" dirty="0"/>
          </a:p>
        </p:txBody>
      </p:sp>
      <p:sp>
        <p:nvSpPr>
          <p:cNvPr id="16" name="Text 14"/>
          <p:cNvSpPr/>
          <p:nvPr/>
        </p:nvSpPr>
        <p:spPr>
          <a:xfrm>
            <a:off x="411480" y="4572000"/>
            <a:ext cx="3657600" cy="182880"/>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DDQ v1.0 (May 2026)</a:t>
            </a:r>
            <a:endParaRPr lang="en-US" sz="800" dirty="0"/>
          </a:p>
        </p:txBody>
      </p:sp>
      <p:sp>
        <p:nvSpPr>
          <p:cNvPr id="17" name="Shape 15"/>
          <p:cNvSpPr/>
          <p:nvPr/>
        </p:nvSpPr>
        <p:spPr>
          <a:xfrm>
            <a:off x="4709160" y="1371600"/>
            <a:ext cx="4160520" cy="347472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18" name="Shape 16"/>
          <p:cNvSpPr/>
          <p:nvPr/>
        </p:nvSpPr>
        <p:spPr>
          <a:xfrm>
            <a:off x="4709160" y="1371600"/>
            <a:ext cx="4160520" cy="54864"/>
          </a:xfrm>
          <a:prstGeom prst="rect">
            <a:avLst/>
          </a:prstGeom>
          <a:solidFill>
            <a:srgbClr val="FFB020"/>
          </a:solidFill>
          <a:ln/>
        </p:spPr>
      </p:sp>
      <p:sp>
        <p:nvSpPr>
          <p:cNvPr id="19" name="Text 17"/>
          <p:cNvSpPr/>
          <p:nvPr/>
        </p:nvSpPr>
        <p:spPr>
          <a:xfrm>
            <a:off x="4846320" y="1481328"/>
            <a:ext cx="3931920" cy="365760"/>
          </a:xfrm>
          <a:prstGeom prst="rect">
            <a:avLst/>
          </a:prstGeom>
          <a:noFill/>
          <a:ln/>
        </p:spPr>
        <p:txBody>
          <a:bodyPr wrap="square" lIns="0" tIns="0" rIns="0" bIns="0" rtlCol="0" anchor="ctr"/>
          <a:lstStyle/>
          <a:p>
            <a:pPr indent="0" marL="0">
              <a:buNone/>
            </a:pPr>
            <a:r>
              <a:rPr lang="en-US" sz="1400" b="1" dirty="0">
                <a:solidFill>
                  <a:srgbClr val="FFB020"/>
                </a:solidFill>
                <a:latin typeface="Calibri" pitchFamily="34" charset="0"/>
                <a:ea typeface="Calibri" pitchFamily="34" charset="-122"/>
                <a:cs typeface="Calibri" pitchFamily="34" charset="-120"/>
              </a:rPr>
              <a:t>ACADEMY (B2B)</a:t>
            </a:r>
            <a:endParaRPr lang="en-US" sz="1400" dirty="0"/>
          </a:p>
        </p:txBody>
      </p:sp>
      <p:sp>
        <p:nvSpPr>
          <p:cNvPr id="20" name="Text 18"/>
          <p:cNvSpPr/>
          <p:nvPr/>
        </p:nvSpPr>
        <p:spPr>
          <a:xfrm>
            <a:off x="4846320" y="1956816"/>
            <a:ext cx="2560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CAC (sales time)</a:t>
            </a:r>
            <a:endParaRPr lang="en-US" sz="1100" dirty="0"/>
          </a:p>
        </p:txBody>
      </p:sp>
      <p:sp>
        <p:nvSpPr>
          <p:cNvPr id="21" name="Text 19"/>
          <p:cNvSpPr/>
          <p:nvPr/>
        </p:nvSpPr>
        <p:spPr>
          <a:xfrm>
            <a:off x="7452360" y="1956816"/>
            <a:ext cx="1234440" cy="274320"/>
          </a:xfrm>
          <a:prstGeom prst="rect">
            <a:avLst/>
          </a:prstGeom>
          <a:noFill/>
          <a:ln/>
        </p:spPr>
        <p:txBody>
          <a:bodyPr wrap="square" lIns="0" tIns="0" rIns="0" bIns="0" rtlCol="0" anchor="ctr"/>
          <a:lstStyle/>
          <a:p>
            <a:pPr algn="r" indent="0" marL="0">
              <a:buNone/>
            </a:pPr>
            <a:r>
              <a:rPr lang="en-US" sz="1400" b="1" dirty="0">
                <a:solidFill>
                  <a:srgbClr val="F0F4F8"/>
                </a:solidFill>
                <a:latin typeface="Calibri" pitchFamily="34" charset="0"/>
                <a:ea typeface="Calibri" pitchFamily="34" charset="-122"/>
                <a:cs typeface="Calibri" pitchFamily="34" charset="-120"/>
              </a:rPr>
              <a:t>~SAR 5,000</a:t>
            </a:r>
            <a:endParaRPr lang="en-US" sz="1400" dirty="0"/>
          </a:p>
        </p:txBody>
      </p:sp>
      <p:sp>
        <p:nvSpPr>
          <p:cNvPr id="22" name="Text 20"/>
          <p:cNvSpPr/>
          <p:nvPr/>
        </p:nvSpPr>
        <p:spPr>
          <a:xfrm>
            <a:off x="4846320" y="2459736"/>
            <a:ext cx="2560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ACV</a:t>
            </a:r>
            <a:endParaRPr lang="en-US" sz="1100" dirty="0"/>
          </a:p>
        </p:txBody>
      </p:sp>
      <p:sp>
        <p:nvSpPr>
          <p:cNvPr id="23" name="Text 21"/>
          <p:cNvSpPr/>
          <p:nvPr/>
        </p:nvSpPr>
        <p:spPr>
          <a:xfrm>
            <a:off x="7452360" y="2459736"/>
            <a:ext cx="1234440" cy="274320"/>
          </a:xfrm>
          <a:prstGeom prst="rect">
            <a:avLst/>
          </a:prstGeom>
          <a:noFill/>
          <a:ln/>
        </p:spPr>
        <p:txBody>
          <a:bodyPr wrap="square" lIns="0" tIns="0" rIns="0" bIns="0" rtlCol="0" anchor="ctr"/>
          <a:lstStyle/>
          <a:p>
            <a:pPr algn="r" indent="0" marL="0">
              <a:buNone/>
            </a:pPr>
            <a:r>
              <a:rPr lang="en-US" sz="1400" b="1" dirty="0">
                <a:solidFill>
                  <a:srgbClr val="F0F4F8"/>
                </a:solidFill>
                <a:latin typeface="Calibri" pitchFamily="34" charset="0"/>
                <a:ea typeface="Calibri" pitchFamily="34" charset="-122"/>
                <a:cs typeface="Calibri" pitchFamily="34" charset="-120"/>
              </a:rPr>
              <a:t>SAR 15k–30k</a:t>
            </a:r>
            <a:endParaRPr lang="en-US" sz="1400" dirty="0"/>
          </a:p>
        </p:txBody>
      </p:sp>
      <p:sp>
        <p:nvSpPr>
          <p:cNvPr id="24" name="Text 22"/>
          <p:cNvSpPr/>
          <p:nvPr/>
        </p:nvSpPr>
        <p:spPr>
          <a:xfrm>
            <a:off x="4846320" y="2962656"/>
            <a:ext cx="2560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LTV (3-yr)</a:t>
            </a:r>
            <a:endParaRPr lang="en-US" sz="1100" dirty="0"/>
          </a:p>
        </p:txBody>
      </p:sp>
      <p:sp>
        <p:nvSpPr>
          <p:cNvPr id="25" name="Text 23"/>
          <p:cNvSpPr/>
          <p:nvPr/>
        </p:nvSpPr>
        <p:spPr>
          <a:xfrm>
            <a:off x="7452360" y="2962656"/>
            <a:ext cx="1234440" cy="274320"/>
          </a:xfrm>
          <a:prstGeom prst="rect">
            <a:avLst/>
          </a:prstGeom>
          <a:noFill/>
          <a:ln/>
        </p:spPr>
        <p:txBody>
          <a:bodyPr wrap="square" lIns="0" tIns="0" rIns="0" bIns="0" rtlCol="0" anchor="ctr"/>
          <a:lstStyle/>
          <a:p>
            <a:pPr algn="r" indent="0" marL="0">
              <a:buNone/>
            </a:pPr>
            <a:r>
              <a:rPr lang="en-US" sz="1400" b="1" dirty="0">
                <a:solidFill>
                  <a:srgbClr val="F0F4F8"/>
                </a:solidFill>
                <a:latin typeface="Calibri" pitchFamily="34" charset="0"/>
                <a:ea typeface="Calibri" pitchFamily="34" charset="-122"/>
                <a:cs typeface="Calibri" pitchFamily="34" charset="-120"/>
              </a:rPr>
              <a:t>SAR 45k–90k</a:t>
            </a:r>
            <a:endParaRPr lang="en-US" sz="1400" dirty="0"/>
          </a:p>
        </p:txBody>
      </p:sp>
      <p:sp>
        <p:nvSpPr>
          <p:cNvPr id="26" name="Text 24"/>
          <p:cNvSpPr/>
          <p:nvPr/>
        </p:nvSpPr>
        <p:spPr>
          <a:xfrm>
            <a:off x="4846320" y="3465576"/>
            <a:ext cx="2560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LTV:CAC</a:t>
            </a:r>
            <a:endParaRPr lang="en-US" sz="1100" dirty="0"/>
          </a:p>
        </p:txBody>
      </p:sp>
      <p:sp>
        <p:nvSpPr>
          <p:cNvPr id="27" name="Text 25"/>
          <p:cNvSpPr/>
          <p:nvPr/>
        </p:nvSpPr>
        <p:spPr>
          <a:xfrm>
            <a:off x="7452360" y="3465576"/>
            <a:ext cx="1234440" cy="274320"/>
          </a:xfrm>
          <a:prstGeom prst="rect">
            <a:avLst/>
          </a:prstGeom>
          <a:noFill/>
          <a:ln/>
        </p:spPr>
        <p:txBody>
          <a:bodyPr wrap="square" lIns="0" tIns="0" rIns="0" bIns="0" rtlCol="0" anchor="ctr"/>
          <a:lstStyle/>
          <a:p>
            <a:pPr algn="r" indent="0" marL="0">
              <a:buNone/>
            </a:pPr>
            <a:r>
              <a:rPr lang="en-US" sz="1400" b="1" dirty="0">
                <a:solidFill>
                  <a:srgbClr val="F0F4F8"/>
                </a:solidFill>
                <a:latin typeface="Calibri" pitchFamily="34" charset="0"/>
                <a:ea typeface="Calibri" pitchFamily="34" charset="-122"/>
                <a:cs typeface="Calibri" pitchFamily="34" charset="-120"/>
              </a:rPr>
              <a:t>9×</a:t>
            </a:r>
            <a:endParaRPr lang="en-US" sz="1400" dirty="0"/>
          </a:p>
        </p:txBody>
      </p:sp>
      <p:sp>
        <p:nvSpPr>
          <p:cNvPr id="28" name="Text 26"/>
          <p:cNvSpPr/>
          <p:nvPr/>
        </p:nvSpPr>
        <p:spPr>
          <a:xfrm>
            <a:off x="4846320" y="3968496"/>
            <a:ext cx="2560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Pre-bridge burn</a:t>
            </a:r>
            <a:endParaRPr lang="en-US" sz="1100" dirty="0"/>
          </a:p>
        </p:txBody>
      </p:sp>
      <p:sp>
        <p:nvSpPr>
          <p:cNvPr id="29" name="Text 27"/>
          <p:cNvSpPr/>
          <p:nvPr/>
        </p:nvSpPr>
        <p:spPr>
          <a:xfrm>
            <a:off x="7452360" y="3968496"/>
            <a:ext cx="1234440" cy="274320"/>
          </a:xfrm>
          <a:prstGeom prst="rect">
            <a:avLst/>
          </a:prstGeom>
          <a:noFill/>
          <a:ln/>
        </p:spPr>
        <p:txBody>
          <a:bodyPr wrap="square" lIns="0" tIns="0" rIns="0" bIns="0" rtlCol="0" anchor="ctr"/>
          <a:lstStyle/>
          <a:p>
            <a:pPr algn="r" indent="0" marL="0">
              <a:buNone/>
            </a:pPr>
            <a:r>
              <a:rPr lang="en-US" sz="1400" b="1" dirty="0">
                <a:solidFill>
                  <a:srgbClr val="F0F4F8"/>
                </a:solidFill>
                <a:latin typeface="Calibri" pitchFamily="34" charset="0"/>
                <a:ea typeface="Calibri" pitchFamily="34" charset="-122"/>
                <a:cs typeface="Calibri" pitchFamily="34" charset="-120"/>
              </a:rPr>
              <a:t>~SAR 7k/mo</a:t>
            </a:r>
            <a:endParaRPr lang="en-US" sz="1400" dirty="0"/>
          </a:p>
        </p:txBody>
      </p:sp>
      <p:sp>
        <p:nvSpPr>
          <p:cNvPr id="30" name="Text 28"/>
          <p:cNvSpPr/>
          <p:nvPr/>
        </p:nvSpPr>
        <p:spPr>
          <a:xfrm>
            <a:off x="4846320" y="4471416"/>
            <a:ext cx="256032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Gross margin</a:t>
            </a:r>
            <a:endParaRPr lang="en-US" sz="1100" dirty="0"/>
          </a:p>
        </p:txBody>
      </p:sp>
      <p:sp>
        <p:nvSpPr>
          <p:cNvPr id="31" name="Text 29"/>
          <p:cNvSpPr/>
          <p:nvPr/>
        </p:nvSpPr>
        <p:spPr>
          <a:xfrm>
            <a:off x="7452360" y="4471416"/>
            <a:ext cx="1234440" cy="274320"/>
          </a:xfrm>
          <a:prstGeom prst="rect">
            <a:avLst/>
          </a:prstGeom>
          <a:noFill/>
          <a:ln/>
        </p:spPr>
        <p:txBody>
          <a:bodyPr wrap="square" lIns="0" tIns="0" rIns="0" bIns="0" rtlCol="0" anchor="ctr"/>
          <a:lstStyle/>
          <a:p>
            <a:pPr algn="r" indent="0" marL="0">
              <a:buNone/>
            </a:pPr>
            <a:r>
              <a:rPr lang="en-US" sz="1400" b="1" dirty="0">
                <a:solidFill>
                  <a:srgbClr val="F0F4F8"/>
                </a:solidFill>
                <a:latin typeface="Calibri" pitchFamily="34" charset="0"/>
                <a:ea typeface="Calibri" pitchFamily="34" charset="-122"/>
                <a:cs typeface="Calibri" pitchFamily="34" charset="-120"/>
              </a:rPr>
              <a:t>≥62%</a:t>
            </a:r>
            <a:endParaRPr lang="en-US" sz="1400" dirty="0"/>
          </a:p>
        </p:txBody>
      </p:sp>
      <p:sp>
        <p:nvSpPr>
          <p:cNvPr id="32" name="Text 30"/>
          <p:cNvSpPr/>
          <p:nvPr/>
        </p:nvSpPr>
        <p:spPr>
          <a:xfrm>
            <a:off x="4846320" y="4572000"/>
            <a:ext cx="3840480" cy="182880"/>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DDQ v1.0 · KPI Dashboard (May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CC"/>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00B4CC"/>
                </a:solidFill>
                <a:latin typeface="Calibri" pitchFamily="34" charset="0"/>
                <a:ea typeface="Calibri" pitchFamily="34" charset="-122"/>
                <a:cs typeface="Calibri" pitchFamily="34" charset="-120"/>
              </a:rPr>
              <a:t>MOAT &amp; DEFENSIBILITY</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200" b="1" dirty="0">
                <a:solidFill>
                  <a:srgbClr val="F0F4F8"/>
                </a:solidFill>
                <a:latin typeface="Calibri" pitchFamily="34" charset="0"/>
                <a:ea typeface="Calibri" pitchFamily="34" charset="-122"/>
                <a:cs typeface="Calibri" pitchFamily="34" charset="-120"/>
              </a:rPr>
              <a:t>Three durable assets competitors can't quickly replicate.</a:t>
            </a:r>
            <a:endParaRPr lang="en-US" sz="2200" dirty="0"/>
          </a:p>
        </p:txBody>
      </p:sp>
      <p:sp>
        <p:nvSpPr>
          <p:cNvPr id="5" name="Shape 3"/>
          <p:cNvSpPr/>
          <p:nvPr/>
        </p:nvSpPr>
        <p:spPr>
          <a:xfrm>
            <a:off x="274320" y="1371600"/>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411480" y="1536192"/>
            <a:ext cx="347472" cy="347472"/>
          </a:xfrm>
          <a:prstGeom prst="rect">
            <a:avLst/>
          </a:prstGeom>
        </p:spPr>
      </p:pic>
      <p:sp>
        <p:nvSpPr>
          <p:cNvPr id="7" name="Text 4"/>
          <p:cNvSpPr/>
          <p:nvPr/>
        </p:nvSpPr>
        <p:spPr>
          <a:xfrm>
            <a:off x="868680" y="1481328"/>
            <a:ext cx="3493008" cy="475488"/>
          </a:xfrm>
          <a:prstGeom prst="rect">
            <a:avLst/>
          </a:prstGeom>
          <a:noFill/>
          <a:ln/>
        </p:spPr>
        <p:txBody>
          <a:bodyPr wrap="square" lIns="0" tIns="0" rIns="0" bIns="0" rtlCol="0" anchor="ctr"/>
          <a:lstStyle/>
          <a:p>
            <a:pPr indent="0" marL="0">
              <a:buNone/>
            </a:pPr>
            <a:r>
              <a:rPr lang="en-US" sz="1100" b="1" dirty="0">
                <a:solidFill>
                  <a:srgbClr val="F0F4F8"/>
                </a:solidFill>
                <a:latin typeface="Calibri" pitchFamily="34" charset="0"/>
                <a:ea typeface="Calibri" pitchFamily="34" charset="-122"/>
                <a:cs typeface="Calibri" pitchFamily="34" charset="-120"/>
              </a:rPr>
              <a:t>GACA-Regulation-Aware Logbook (§5.1)</a:t>
            </a:r>
            <a:endParaRPr lang="en-US" sz="1100" dirty="0"/>
          </a:p>
        </p:txBody>
      </p:sp>
      <p:sp>
        <p:nvSpPr>
          <p:cNvPr id="8" name="Text 5"/>
          <p:cNvSpPr/>
          <p:nvPr/>
        </p:nvSpPr>
        <p:spPr>
          <a:xfrm>
            <a:off x="411480" y="2029968"/>
            <a:ext cx="3950208" cy="7772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Currency tracked against GACAR Part 61 recency: day/night passenger, IFR recency, medical/flight-review expiry. Saudi-specific, bilingual. After the exam, the pilot keeps paying for a career. No foreign competitor can replicate this without the Saudi corpus.</a:t>
            </a:r>
            <a:endParaRPr lang="en-US" sz="950" dirty="0"/>
          </a:p>
        </p:txBody>
      </p:sp>
      <p:sp>
        <p:nvSpPr>
          <p:cNvPr id="9" name="Shape 6"/>
          <p:cNvSpPr/>
          <p:nvPr/>
        </p:nvSpPr>
        <p:spPr>
          <a:xfrm>
            <a:off x="4736592" y="1371600"/>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0" name="Image 1" descr="preencoded.png">    </p:cNvPr>
          <p:cNvPicPr>
            <a:picLocks noChangeAspect="1"/>
          </p:cNvPicPr>
          <p:nvPr/>
        </p:nvPicPr>
        <p:blipFill>
          <a:blip r:embed="rId2"/>
          <a:stretch>
            <a:fillRect/>
          </a:stretch>
        </p:blipFill>
        <p:spPr>
          <a:xfrm>
            <a:off x="4873752" y="1536192"/>
            <a:ext cx="347472" cy="347472"/>
          </a:xfrm>
          <a:prstGeom prst="rect">
            <a:avLst/>
          </a:prstGeom>
        </p:spPr>
      </p:pic>
      <p:sp>
        <p:nvSpPr>
          <p:cNvPr id="11" name="Text 7"/>
          <p:cNvSpPr/>
          <p:nvPr/>
        </p:nvSpPr>
        <p:spPr>
          <a:xfrm>
            <a:off x="5330952" y="1481328"/>
            <a:ext cx="3493008" cy="475488"/>
          </a:xfrm>
          <a:prstGeom prst="rect">
            <a:avLst/>
          </a:prstGeom>
          <a:noFill/>
          <a:ln/>
        </p:spPr>
        <p:txBody>
          <a:bodyPr wrap="square" lIns="0" tIns="0" rIns="0" bIns="0" rtlCol="0" anchor="ctr"/>
          <a:lstStyle/>
          <a:p>
            <a:pPr indent="0" marL="0">
              <a:buNone/>
            </a:pPr>
            <a:r>
              <a:rPr lang="en-US" sz="1100" b="1" dirty="0">
                <a:solidFill>
                  <a:srgbClr val="F0F4F8"/>
                </a:solidFill>
                <a:latin typeface="Calibri" pitchFamily="34" charset="0"/>
                <a:ea typeface="Calibri" pitchFamily="34" charset="-122"/>
                <a:cs typeface="Calibri" pitchFamily="34" charset="-120"/>
              </a:rPr>
              <a:t>AIRAC Freshness Process — Trust as a Product</a:t>
            </a:r>
            <a:endParaRPr lang="en-US" sz="1100" dirty="0"/>
          </a:p>
        </p:txBody>
      </p:sp>
      <p:sp>
        <p:nvSpPr>
          <p:cNvPr id="12" name="Text 8"/>
          <p:cNvSpPr/>
          <p:nvPr/>
        </p:nvSpPr>
        <p:spPr>
          <a:xfrm>
            <a:off x="4873752" y="2029968"/>
            <a:ext cx="3950208" cy="7772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Every regulation page shows a 'Last synced with GACA' stamp + AIRAC cycle flag. Named editorial owner checks GACA publications every 28-day cycle. Currency-as-a-product-function — a single-maintainer SLA competitors can weaponise against us if we don't ship this first.</a:t>
            </a:r>
            <a:endParaRPr lang="en-US" sz="950" dirty="0"/>
          </a:p>
        </p:txBody>
      </p:sp>
      <p:sp>
        <p:nvSpPr>
          <p:cNvPr id="13" name="Shape 9"/>
          <p:cNvSpPr/>
          <p:nvPr/>
        </p:nvSpPr>
        <p:spPr>
          <a:xfrm>
            <a:off x="274320" y="3090672"/>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4" name="Image 2" descr="preencoded.png">    </p:cNvPr>
          <p:cNvPicPr>
            <a:picLocks noChangeAspect="1"/>
          </p:cNvPicPr>
          <p:nvPr/>
        </p:nvPicPr>
        <p:blipFill>
          <a:blip r:embed="rId3"/>
          <a:stretch>
            <a:fillRect/>
          </a:stretch>
        </p:blipFill>
        <p:spPr>
          <a:xfrm>
            <a:off x="411480" y="3255264"/>
            <a:ext cx="347472" cy="347472"/>
          </a:xfrm>
          <a:prstGeom prst="rect">
            <a:avLst/>
          </a:prstGeom>
        </p:spPr>
      </p:pic>
      <p:sp>
        <p:nvSpPr>
          <p:cNvPr id="15" name="Text 10"/>
          <p:cNvSpPr/>
          <p:nvPr/>
        </p:nvSpPr>
        <p:spPr>
          <a:xfrm>
            <a:off x="868680" y="3200400"/>
            <a:ext cx="3493008" cy="475488"/>
          </a:xfrm>
          <a:prstGeom prst="rect">
            <a:avLst/>
          </a:prstGeom>
          <a:noFill/>
          <a:ln/>
        </p:spPr>
        <p:txBody>
          <a:bodyPr wrap="square" lIns="0" tIns="0" rIns="0" bIns="0" rtlCol="0" anchor="ctr"/>
          <a:lstStyle/>
          <a:p>
            <a:pPr indent="0" marL="0">
              <a:buNone/>
            </a:pPr>
            <a:r>
              <a:rPr lang="en-US" sz="1100" b="1" dirty="0">
                <a:solidFill>
                  <a:srgbClr val="F0F4F8"/>
                </a:solidFill>
                <a:latin typeface="Calibri" pitchFamily="34" charset="0"/>
                <a:ea typeface="Calibri" pitchFamily="34" charset="-122"/>
                <a:cs typeface="Calibri" pitchFamily="34" charset="-120"/>
              </a:rPr>
              <a:t>Bilingual Arabic-First + In-Kingdom Hosting</a:t>
            </a:r>
            <a:endParaRPr lang="en-US" sz="1100" dirty="0"/>
          </a:p>
        </p:txBody>
      </p:sp>
      <p:sp>
        <p:nvSpPr>
          <p:cNvPr id="16" name="Text 11"/>
          <p:cNvSpPr/>
          <p:nvPr/>
        </p:nvSpPr>
        <p:spPr>
          <a:xfrm>
            <a:off x="411480" y="3749040"/>
            <a:ext cx="3950208" cy="7772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Full RTL Arabic parity (logical-properties CSS). All data in Firebase me-central2 (Dammam) — PDPL-compliant by design. Foreign entrants face a 12–18 month localisation wall plus a data-residency blocker. Gleim, Sporty's, King Schools: FAA-only, English-only.</a:t>
            </a:r>
            <a:endParaRPr lang="en-US" sz="950" dirty="0"/>
          </a:p>
        </p:txBody>
      </p:sp>
      <p:sp>
        <p:nvSpPr>
          <p:cNvPr id="17" name="Shape 12"/>
          <p:cNvSpPr/>
          <p:nvPr/>
        </p:nvSpPr>
        <p:spPr>
          <a:xfrm>
            <a:off x="4736592" y="3090672"/>
            <a:ext cx="4206240" cy="1536192"/>
          </a:xfrm>
          <a:prstGeom prst="rect">
            <a:avLst/>
          </a:prstGeom>
          <a:solidFill>
            <a:srgbClr val="141C25"/>
          </a:solidFill>
          <a:ln/>
          <a:effectLst>
            <a:outerShdw sx="100000" sy="100000" kx="0" ky="0" algn="bl" rotWithShape="0" blurRad="76200" dist="25400" dir="8100000">
              <a:srgbClr val="000000">
                <a:alpha val="12000"/>
              </a:srgbClr>
            </a:outerShdw>
          </a:effectLst>
        </p:spPr>
      </p:sp>
      <p:pic>
        <p:nvPicPr>
          <p:cNvPr id="18" name="Image 3" descr="preencoded.png">    </p:cNvPr>
          <p:cNvPicPr>
            <a:picLocks noChangeAspect="1"/>
          </p:cNvPicPr>
          <p:nvPr/>
        </p:nvPicPr>
        <p:blipFill>
          <a:blip r:embed="rId4"/>
          <a:stretch>
            <a:fillRect/>
          </a:stretch>
        </p:blipFill>
        <p:spPr>
          <a:xfrm>
            <a:off x="4873752" y="3255264"/>
            <a:ext cx="347472" cy="347472"/>
          </a:xfrm>
          <a:prstGeom prst="rect">
            <a:avLst/>
          </a:prstGeom>
        </p:spPr>
      </p:pic>
      <p:sp>
        <p:nvSpPr>
          <p:cNvPr id="19" name="Text 13"/>
          <p:cNvSpPr/>
          <p:nvPr/>
        </p:nvSpPr>
        <p:spPr>
          <a:xfrm>
            <a:off x="5330952" y="3200400"/>
            <a:ext cx="3493008" cy="475488"/>
          </a:xfrm>
          <a:prstGeom prst="rect">
            <a:avLst/>
          </a:prstGeom>
          <a:noFill/>
          <a:ln/>
        </p:spPr>
        <p:txBody>
          <a:bodyPr wrap="square" lIns="0" tIns="0" rIns="0" bIns="0" rtlCol="0" anchor="ctr"/>
          <a:lstStyle/>
          <a:p>
            <a:pPr indent="0" marL="0">
              <a:buNone/>
            </a:pPr>
            <a:r>
              <a:rPr lang="en-US" sz="1100" b="1" dirty="0">
                <a:solidFill>
                  <a:srgbClr val="F0F4F8"/>
                </a:solidFill>
                <a:latin typeface="Calibri" pitchFamily="34" charset="0"/>
                <a:ea typeface="Calibri" pitchFamily="34" charset="-122"/>
                <a:cs typeface="Calibri" pitchFamily="34" charset="-120"/>
              </a:rPr>
              <a:t>Instructor Dashboard — Strongest Revenue Lever (§5.2)</a:t>
            </a:r>
            <a:endParaRPr lang="en-US" sz="1100" dirty="0"/>
          </a:p>
        </p:txBody>
      </p:sp>
      <p:sp>
        <p:nvSpPr>
          <p:cNvPr id="20" name="Text 14"/>
          <p:cNvSpPr/>
          <p:nvPr/>
        </p:nvSpPr>
        <p:spPr>
          <a:xfrm>
            <a:off x="4873752" y="3749040"/>
            <a:ext cx="3950208" cy="7772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An instructor who runs their class on Fly GACA brings every cadet. B2B seat pricing exists (SAR 199–299/seat/yr); the dashboard is what makes it sticky. Switching cost = cohort history + exam analytics + instructor workflow. Drives bulk seat sales AND turns instructors into evangelists.</a:t>
            </a:r>
            <a:endParaRPr lang="en-US" sz="950" dirty="0"/>
          </a:p>
        </p:txBody>
      </p:sp>
      <p:sp>
        <p:nvSpPr>
          <p:cNvPr id="21" name="Text 15"/>
          <p:cNvSpPr/>
          <p:nvPr/>
        </p:nvSpPr>
        <p:spPr>
          <a:xfrm>
            <a:off x="320040" y="4828032"/>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Fly-GACA-Review-Action-Plan.md §5.1, §5.2 · STRATEGY-competitive-teardown.md §2–§4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B020"/>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FFB020"/>
                </a:solidFill>
                <a:latin typeface="Calibri" pitchFamily="34" charset="0"/>
                <a:ea typeface="Calibri" pitchFamily="34" charset="-122"/>
                <a:cs typeface="Calibri" pitchFamily="34" charset="-120"/>
              </a:rPr>
              <a:t>COMPETITIVE LANDSCAPE</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200" b="1" dirty="0">
                <a:solidFill>
                  <a:srgbClr val="F0F4F8"/>
                </a:solidFill>
                <a:latin typeface="Calibri" pitchFamily="34" charset="0"/>
                <a:ea typeface="Calibri" pitchFamily="34" charset="-122"/>
                <a:cs typeface="Calibri" pitchFamily="34" charset="-120"/>
              </a:rPr>
              <a:t>No GACA-native AI incumbent — and the window is now.</a:t>
            </a:r>
            <a:endParaRPr lang="en-US" sz="2200" dirty="0"/>
          </a:p>
        </p:txBody>
      </p:sp>
      <p:sp>
        <p:nvSpPr>
          <p:cNvPr id="5" name="Shape 3"/>
          <p:cNvSpPr/>
          <p:nvPr/>
        </p:nvSpPr>
        <p:spPr>
          <a:xfrm>
            <a:off x="256032" y="1298448"/>
            <a:ext cx="8631936" cy="420624"/>
          </a:xfrm>
          <a:prstGeom prst="rect">
            <a:avLst/>
          </a:prstGeom>
          <a:solidFill>
            <a:srgbClr val="1A2535"/>
          </a:solidFill>
          <a:ln/>
        </p:spPr>
      </p:sp>
      <p:sp>
        <p:nvSpPr>
          <p:cNvPr id="6" name="Text 4"/>
          <p:cNvSpPr/>
          <p:nvPr/>
        </p:nvSpPr>
        <p:spPr>
          <a:xfrm>
            <a:off x="256032" y="1316736"/>
            <a:ext cx="2423160" cy="384048"/>
          </a:xfrm>
          <a:prstGeom prst="rect">
            <a:avLst/>
          </a:prstGeom>
          <a:noFill/>
          <a:ln/>
        </p:spPr>
        <p:txBody>
          <a:bodyPr wrap="square" lIns="0" tIns="0" rIns="0" bIns="0" rtlCol="0" anchor="ctr"/>
          <a:lstStyle/>
          <a:p>
            <a:pPr algn="l" indent="0" marL="0">
              <a:buNone/>
            </a:pPr>
            <a:r>
              <a:rPr lang="en-US" sz="950" b="1" dirty="0">
                <a:solidFill>
                  <a:srgbClr val="00B4CC"/>
                </a:solidFill>
                <a:latin typeface="Calibri" pitchFamily="34" charset="0"/>
                <a:ea typeface="Calibri" pitchFamily="34" charset="-122"/>
                <a:cs typeface="Calibri" pitchFamily="34" charset="-120"/>
              </a:rPr>
              <a:t>Competitor</a:t>
            </a:r>
            <a:endParaRPr lang="en-US" sz="950" dirty="0"/>
          </a:p>
        </p:txBody>
      </p:sp>
      <p:sp>
        <p:nvSpPr>
          <p:cNvPr id="7" name="Text 5"/>
          <p:cNvSpPr/>
          <p:nvPr/>
        </p:nvSpPr>
        <p:spPr>
          <a:xfrm>
            <a:off x="2697480" y="1316736"/>
            <a:ext cx="1325880" cy="384048"/>
          </a:xfrm>
          <a:prstGeom prst="rect">
            <a:avLst/>
          </a:prstGeom>
          <a:noFill/>
          <a:ln/>
        </p:spPr>
        <p:txBody>
          <a:bodyPr wrap="square" lIns="0" tIns="0" rIns="0" bIns="0" rtlCol="0" anchor="ctr"/>
          <a:lstStyle/>
          <a:p>
            <a:pPr algn="ctr" indent="0" marL="0">
              <a:buNone/>
            </a:pPr>
            <a:r>
              <a:rPr lang="en-US" sz="950" b="1" dirty="0">
                <a:solidFill>
                  <a:srgbClr val="00B4CC"/>
                </a:solidFill>
                <a:latin typeface="Calibri" pitchFamily="34" charset="0"/>
                <a:ea typeface="Calibri" pitchFamily="34" charset="-122"/>
                <a:cs typeface="Calibri" pitchFamily="34" charset="-120"/>
              </a:rPr>
              <a:t>GACAR</a:t>
            </a:r>
            <a:endParaRPr lang="en-US" sz="950" dirty="0"/>
          </a:p>
          <a:p>
            <a:pPr algn="ctr" indent="0" marL="0">
              <a:buNone/>
            </a:pPr>
            <a:r>
              <a:rPr lang="en-US" sz="950" b="1" dirty="0">
                <a:solidFill>
                  <a:srgbClr val="00B4CC"/>
                </a:solidFill>
                <a:latin typeface="Calibri" pitchFamily="34" charset="0"/>
                <a:ea typeface="Calibri" pitchFamily="34" charset="-122"/>
                <a:cs typeface="Calibri" pitchFamily="34" charset="-120"/>
              </a:rPr>
              <a:t>citations</a:t>
            </a:r>
            <a:endParaRPr lang="en-US" sz="950" dirty="0"/>
          </a:p>
        </p:txBody>
      </p:sp>
      <p:sp>
        <p:nvSpPr>
          <p:cNvPr id="8" name="Text 6"/>
          <p:cNvSpPr/>
          <p:nvPr/>
        </p:nvSpPr>
        <p:spPr>
          <a:xfrm>
            <a:off x="4041648" y="1316736"/>
            <a:ext cx="1325880" cy="384048"/>
          </a:xfrm>
          <a:prstGeom prst="rect">
            <a:avLst/>
          </a:prstGeom>
          <a:noFill/>
          <a:ln/>
        </p:spPr>
        <p:txBody>
          <a:bodyPr wrap="square" lIns="0" tIns="0" rIns="0" bIns="0" rtlCol="0" anchor="ctr"/>
          <a:lstStyle/>
          <a:p>
            <a:pPr algn="ctr" indent="0" marL="0">
              <a:buNone/>
            </a:pPr>
            <a:r>
              <a:rPr lang="en-US" sz="950" b="1" dirty="0">
                <a:solidFill>
                  <a:srgbClr val="00B4CC"/>
                </a:solidFill>
                <a:latin typeface="Calibri" pitchFamily="34" charset="0"/>
                <a:ea typeface="Calibri" pitchFamily="34" charset="-122"/>
                <a:cs typeface="Calibri" pitchFamily="34" charset="-120"/>
              </a:rPr>
              <a:t>Arabic</a:t>
            </a:r>
            <a:endParaRPr lang="en-US" sz="950" dirty="0"/>
          </a:p>
          <a:p>
            <a:pPr algn="ctr" indent="0" marL="0">
              <a:buNone/>
            </a:pPr>
            <a:r>
              <a:rPr lang="en-US" sz="950" b="1" dirty="0">
                <a:solidFill>
                  <a:srgbClr val="00B4CC"/>
                </a:solidFill>
                <a:latin typeface="Calibri" pitchFamily="34" charset="0"/>
                <a:ea typeface="Calibri" pitchFamily="34" charset="-122"/>
                <a:cs typeface="Calibri" pitchFamily="34" charset="-120"/>
              </a:rPr>
              <a:t>RTL</a:t>
            </a:r>
            <a:endParaRPr lang="en-US" sz="950" dirty="0"/>
          </a:p>
        </p:txBody>
      </p:sp>
      <p:sp>
        <p:nvSpPr>
          <p:cNvPr id="9" name="Text 7"/>
          <p:cNvSpPr/>
          <p:nvPr/>
        </p:nvSpPr>
        <p:spPr>
          <a:xfrm>
            <a:off x="5385816" y="1316736"/>
            <a:ext cx="1325880" cy="384048"/>
          </a:xfrm>
          <a:prstGeom prst="rect">
            <a:avLst/>
          </a:prstGeom>
          <a:noFill/>
          <a:ln/>
        </p:spPr>
        <p:txBody>
          <a:bodyPr wrap="square" lIns="0" tIns="0" rIns="0" bIns="0" rtlCol="0" anchor="ctr"/>
          <a:lstStyle/>
          <a:p>
            <a:pPr algn="ctr" indent="0" marL="0">
              <a:buNone/>
            </a:pPr>
            <a:r>
              <a:rPr lang="en-US" sz="950" b="1" dirty="0">
                <a:solidFill>
                  <a:srgbClr val="00B4CC"/>
                </a:solidFill>
                <a:latin typeface="Calibri" pitchFamily="34" charset="0"/>
                <a:ea typeface="Calibri" pitchFamily="34" charset="-122"/>
                <a:cs typeface="Calibri" pitchFamily="34" charset="-120"/>
              </a:rPr>
              <a:t>In-KSA</a:t>
            </a:r>
            <a:endParaRPr lang="en-US" sz="950" dirty="0"/>
          </a:p>
          <a:p>
            <a:pPr algn="ctr" indent="0" marL="0">
              <a:buNone/>
            </a:pPr>
            <a:r>
              <a:rPr lang="en-US" sz="950" b="1" dirty="0">
                <a:solidFill>
                  <a:srgbClr val="00B4CC"/>
                </a:solidFill>
                <a:latin typeface="Calibri" pitchFamily="34" charset="0"/>
                <a:ea typeface="Calibri" pitchFamily="34" charset="-122"/>
                <a:cs typeface="Calibri" pitchFamily="34" charset="-120"/>
              </a:rPr>
              <a:t>hosting</a:t>
            </a:r>
            <a:endParaRPr lang="en-US" sz="950" dirty="0"/>
          </a:p>
        </p:txBody>
      </p:sp>
      <p:sp>
        <p:nvSpPr>
          <p:cNvPr id="10" name="Text 8"/>
          <p:cNvSpPr/>
          <p:nvPr/>
        </p:nvSpPr>
        <p:spPr>
          <a:xfrm>
            <a:off x="6729984" y="1316736"/>
            <a:ext cx="1325880" cy="384048"/>
          </a:xfrm>
          <a:prstGeom prst="rect">
            <a:avLst/>
          </a:prstGeom>
          <a:noFill/>
          <a:ln/>
        </p:spPr>
        <p:txBody>
          <a:bodyPr wrap="square" lIns="0" tIns="0" rIns="0" bIns="0" rtlCol="0" anchor="ctr"/>
          <a:lstStyle/>
          <a:p>
            <a:pPr algn="ctr" indent="0" marL="0">
              <a:buNone/>
            </a:pPr>
            <a:r>
              <a:rPr lang="en-US" sz="950" b="1" dirty="0">
                <a:solidFill>
                  <a:srgbClr val="00B4CC"/>
                </a:solidFill>
                <a:latin typeface="Calibri" pitchFamily="34" charset="0"/>
                <a:ea typeface="Calibri" pitchFamily="34" charset="-122"/>
                <a:cs typeface="Calibri" pitchFamily="34" charset="-120"/>
              </a:rPr>
              <a:t>B2B</a:t>
            </a:r>
            <a:endParaRPr lang="en-US" sz="950" dirty="0"/>
          </a:p>
          <a:p>
            <a:pPr algn="ctr" indent="0" marL="0">
              <a:buNone/>
            </a:pPr>
            <a:r>
              <a:rPr lang="en-US" sz="950" b="1" dirty="0">
                <a:solidFill>
                  <a:srgbClr val="00B4CC"/>
                </a:solidFill>
                <a:latin typeface="Calibri" pitchFamily="34" charset="0"/>
                <a:ea typeface="Calibri" pitchFamily="34" charset="-122"/>
                <a:cs typeface="Calibri" pitchFamily="34" charset="-120"/>
              </a:rPr>
              <a:t>dashboard</a:t>
            </a:r>
            <a:endParaRPr lang="en-US" sz="950" dirty="0"/>
          </a:p>
        </p:txBody>
      </p:sp>
      <p:sp>
        <p:nvSpPr>
          <p:cNvPr id="11" name="Text 9"/>
          <p:cNvSpPr/>
          <p:nvPr/>
        </p:nvSpPr>
        <p:spPr>
          <a:xfrm>
            <a:off x="8074152" y="1316736"/>
            <a:ext cx="1325880" cy="384048"/>
          </a:xfrm>
          <a:prstGeom prst="rect">
            <a:avLst/>
          </a:prstGeom>
          <a:noFill/>
          <a:ln/>
        </p:spPr>
        <p:txBody>
          <a:bodyPr wrap="square" lIns="0" tIns="0" rIns="0" bIns="0" rtlCol="0" anchor="ctr"/>
          <a:lstStyle/>
          <a:p>
            <a:pPr algn="ctr" indent="0" marL="0">
              <a:buNone/>
            </a:pPr>
            <a:r>
              <a:rPr lang="en-US" sz="950" b="1" dirty="0">
                <a:solidFill>
                  <a:srgbClr val="00B4CC"/>
                </a:solidFill>
                <a:latin typeface="Calibri" pitchFamily="34" charset="0"/>
                <a:ea typeface="Calibri" pitchFamily="34" charset="-122"/>
                <a:cs typeface="Calibri" pitchFamily="34" charset="-120"/>
              </a:rPr>
              <a:t>Price</a:t>
            </a:r>
            <a:endParaRPr lang="en-US" sz="950" dirty="0"/>
          </a:p>
          <a:p>
            <a:pPr algn="ctr" indent="0" marL="0">
              <a:buNone/>
            </a:pPr>
            <a:r>
              <a:rPr lang="en-US" sz="950" b="1" dirty="0">
                <a:solidFill>
                  <a:srgbClr val="00B4CC"/>
                </a:solidFill>
                <a:latin typeface="Calibri" pitchFamily="34" charset="0"/>
                <a:ea typeface="Calibri" pitchFamily="34" charset="-122"/>
                <a:cs typeface="Calibri" pitchFamily="34" charset="-120"/>
              </a:rPr>
              <a:t>(SAR/yr)</a:t>
            </a:r>
            <a:endParaRPr lang="en-US" sz="950" dirty="0"/>
          </a:p>
        </p:txBody>
      </p:sp>
      <p:sp>
        <p:nvSpPr>
          <p:cNvPr id="12" name="Shape 10"/>
          <p:cNvSpPr/>
          <p:nvPr/>
        </p:nvSpPr>
        <p:spPr>
          <a:xfrm>
            <a:off x="256032" y="1755648"/>
            <a:ext cx="8631936" cy="457200"/>
          </a:xfrm>
          <a:prstGeom prst="rect">
            <a:avLst/>
          </a:prstGeom>
          <a:solidFill>
            <a:srgbClr val="005F6E"/>
          </a:solidFill>
          <a:ln/>
        </p:spPr>
      </p:sp>
      <p:sp>
        <p:nvSpPr>
          <p:cNvPr id="13" name="Text 11"/>
          <p:cNvSpPr/>
          <p:nvPr/>
        </p:nvSpPr>
        <p:spPr>
          <a:xfrm>
            <a:off x="256032" y="1828800"/>
            <a:ext cx="2423160" cy="320040"/>
          </a:xfrm>
          <a:prstGeom prst="rect">
            <a:avLst/>
          </a:prstGeom>
          <a:noFill/>
          <a:ln/>
        </p:spPr>
        <p:txBody>
          <a:bodyPr wrap="square" lIns="0" tIns="0" rIns="0" bIns="0" rtlCol="0" anchor="ctr"/>
          <a:lstStyle/>
          <a:p>
            <a:pPr indent="0" marL="0">
              <a:buNone/>
            </a:pPr>
            <a:r>
              <a:rPr lang="en-US" sz="1100" b="1" dirty="0">
                <a:solidFill>
                  <a:srgbClr val="FFB020"/>
                </a:solidFill>
                <a:latin typeface="Calibri" pitchFamily="34" charset="0"/>
                <a:ea typeface="Calibri" pitchFamily="34" charset="-122"/>
                <a:cs typeface="Calibri" pitchFamily="34" charset="-120"/>
              </a:rPr>
              <a:t>Fly GACA</a:t>
            </a:r>
            <a:endParaRPr lang="en-US" sz="1100" dirty="0"/>
          </a:p>
        </p:txBody>
      </p:sp>
      <p:sp>
        <p:nvSpPr>
          <p:cNvPr id="14" name="Text 12"/>
          <p:cNvSpPr/>
          <p:nvPr/>
        </p:nvSpPr>
        <p:spPr>
          <a:xfrm>
            <a:off x="2697480" y="1828800"/>
            <a:ext cx="1325880" cy="320040"/>
          </a:xfrm>
          <a:prstGeom prst="rect">
            <a:avLst/>
          </a:prstGeom>
          <a:noFill/>
          <a:ln/>
        </p:spPr>
        <p:txBody>
          <a:bodyPr wrap="square" lIns="0" tIns="0" rIns="0" bIns="0" rtlCol="0" anchor="ctr"/>
          <a:lstStyle/>
          <a:p>
            <a:pPr algn="ctr" indent="0" marL="0">
              <a:buNone/>
            </a:pPr>
            <a:r>
              <a:rPr lang="en-US" sz="1000" dirty="0">
                <a:solidFill>
                  <a:srgbClr val="F0F4F8"/>
                </a:solidFill>
                <a:latin typeface="Calibri" pitchFamily="34" charset="0"/>
                <a:ea typeface="Calibri" pitchFamily="34" charset="-122"/>
                <a:cs typeface="Calibri" pitchFamily="34" charset="-120"/>
              </a:rPr>
              <a:t>Full</a:t>
            </a:r>
            <a:endParaRPr lang="en-US" sz="1000" dirty="0"/>
          </a:p>
        </p:txBody>
      </p:sp>
      <p:sp>
        <p:nvSpPr>
          <p:cNvPr id="15" name="Text 13"/>
          <p:cNvSpPr/>
          <p:nvPr/>
        </p:nvSpPr>
        <p:spPr>
          <a:xfrm>
            <a:off x="4041648" y="1828800"/>
            <a:ext cx="1325880" cy="320040"/>
          </a:xfrm>
          <a:prstGeom prst="rect">
            <a:avLst/>
          </a:prstGeom>
          <a:noFill/>
          <a:ln/>
        </p:spPr>
        <p:txBody>
          <a:bodyPr wrap="square" lIns="0" tIns="0" rIns="0" bIns="0" rtlCol="0" anchor="ctr"/>
          <a:lstStyle/>
          <a:p>
            <a:pPr algn="ctr" indent="0" marL="0">
              <a:buNone/>
            </a:pPr>
            <a:r>
              <a:rPr lang="en-US" sz="1000" dirty="0">
                <a:solidFill>
                  <a:srgbClr val="F0F4F8"/>
                </a:solidFill>
                <a:latin typeface="Calibri" pitchFamily="34" charset="0"/>
                <a:ea typeface="Calibri" pitchFamily="34" charset="-122"/>
                <a:cs typeface="Calibri" pitchFamily="34" charset="-120"/>
              </a:rPr>
              <a:t>Full</a:t>
            </a:r>
            <a:endParaRPr lang="en-US" sz="1000" dirty="0"/>
          </a:p>
        </p:txBody>
      </p:sp>
      <p:sp>
        <p:nvSpPr>
          <p:cNvPr id="16" name="Text 14"/>
          <p:cNvSpPr/>
          <p:nvPr/>
        </p:nvSpPr>
        <p:spPr>
          <a:xfrm>
            <a:off x="5385816" y="1828800"/>
            <a:ext cx="1325880" cy="320040"/>
          </a:xfrm>
          <a:prstGeom prst="rect">
            <a:avLst/>
          </a:prstGeom>
          <a:noFill/>
          <a:ln/>
        </p:spPr>
        <p:txBody>
          <a:bodyPr wrap="square" lIns="0" tIns="0" rIns="0" bIns="0" rtlCol="0" anchor="ctr"/>
          <a:lstStyle/>
          <a:p>
            <a:pPr algn="ctr" indent="0" marL="0">
              <a:buNone/>
            </a:pPr>
            <a:r>
              <a:rPr lang="en-US" sz="1000" dirty="0">
                <a:solidFill>
                  <a:srgbClr val="F0F4F8"/>
                </a:solidFill>
                <a:latin typeface="Calibri" pitchFamily="34" charset="0"/>
                <a:ea typeface="Calibri" pitchFamily="34" charset="-122"/>
                <a:cs typeface="Calibri" pitchFamily="34" charset="-120"/>
              </a:rPr>
              <a:t>Dammam (KSA)</a:t>
            </a:r>
            <a:endParaRPr lang="en-US" sz="1000" dirty="0"/>
          </a:p>
        </p:txBody>
      </p:sp>
      <p:sp>
        <p:nvSpPr>
          <p:cNvPr id="17" name="Text 15"/>
          <p:cNvSpPr/>
          <p:nvPr/>
        </p:nvSpPr>
        <p:spPr>
          <a:xfrm>
            <a:off x="6729984" y="1828800"/>
            <a:ext cx="1325880" cy="320040"/>
          </a:xfrm>
          <a:prstGeom prst="rect">
            <a:avLst/>
          </a:prstGeom>
          <a:noFill/>
          <a:ln/>
        </p:spPr>
        <p:txBody>
          <a:bodyPr wrap="square" lIns="0" tIns="0" rIns="0" bIns="0" rtlCol="0" anchor="ctr"/>
          <a:lstStyle/>
          <a:p>
            <a:pPr algn="ctr" indent="0" marL="0">
              <a:buNone/>
            </a:pPr>
            <a:r>
              <a:rPr lang="en-US" sz="1000" dirty="0">
                <a:solidFill>
                  <a:srgbClr val="F0F4F8"/>
                </a:solidFill>
                <a:latin typeface="Calibri" pitchFamily="34" charset="0"/>
                <a:ea typeface="Calibri" pitchFamily="34" charset="-122"/>
                <a:cs typeface="Calibri" pitchFamily="34" charset="-120"/>
              </a:rPr>
              <a:t>Built</a:t>
            </a:r>
            <a:endParaRPr lang="en-US" sz="1000" dirty="0"/>
          </a:p>
        </p:txBody>
      </p:sp>
      <p:sp>
        <p:nvSpPr>
          <p:cNvPr id="18" name="Text 16"/>
          <p:cNvSpPr/>
          <p:nvPr/>
        </p:nvSpPr>
        <p:spPr>
          <a:xfrm>
            <a:off x="8074152" y="1828800"/>
            <a:ext cx="1325880" cy="320040"/>
          </a:xfrm>
          <a:prstGeom prst="rect">
            <a:avLst/>
          </a:prstGeom>
          <a:noFill/>
          <a:ln/>
        </p:spPr>
        <p:txBody>
          <a:bodyPr wrap="square" lIns="0" tIns="0" rIns="0" bIns="0" rtlCol="0" anchor="ctr"/>
          <a:lstStyle/>
          <a:p>
            <a:pPr algn="ctr" indent="0" marL="0">
              <a:buNone/>
            </a:pPr>
            <a:r>
              <a:rPr lang="en-US" sz="1000" dirty="0">
                <a:solidFill>
                  <a:srgbClr val="F0F4F8"/>
                </a:solidFill>
                <a:latin typeface="Calibri" pitchFamily="34" charset="0"/>
                <a:ea typeface="Calibri" pitchFamily="34" charset="-122"/>
                <a:cs typeface="Calibri" pitchFamily="34" charset="-120"/>
              </a:rPr>
              <a:t>349/yr</a:t>
            </a:r>
            <a:endParaRPr lang="en-US" sz="1000" dirty="0"/>
          </a:p>
        </p:txBody>
      </p:sp>
      <p:sp>
        <p:nvSpPr>
          <p:cNvPr id="19" name="Shape 17"/>
          <p:cNvSpPr/>
          <p:nvPr/>
        </p:nvSpPr>
        <p:spPr>
          <a:xfrm>
            <a:off x="256032" y="2240280"/>
            <a:ext cx="8631936" cy="457200"/>
          </a:xfrm>
          <a:prstGeom prst="rect">
            <a:avLst/>
          </a:prstGeom>
          <a:solidFill>
            <a:srgbClr val="141C25"/>
          </a:solidFill>
          <a:ln/>
        </p:spPr>
      </p:sp>
      <p:sp>
        <p:nvSpPr>
          <p:cNvPr id="20" name="Text 18"/>
          <p:cNvSpPr/>
          <p:nvPr/>
        </p:nvSpPr>
        <p:spPr>
          <a:xfrm>
            <a:off x="256032" y="2313432"/>
            <a:ext cx="2423160" cy="32004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Gleim (FAA)</a:t>
            </a:r>
            <a:endParaRPr lang="en-US" sz="1100" dirty="0"/>
          </a:p>
        </p:txBody>
      </p:sp>
      <p:sp>
        <p:nvSpPr>
          <p:cNvPr id="21" name="Text 19"/>
          <p:cNvSpPr/>
          <p:nvPr/>
        </p:nvSpPr>
        <p:spPr>
          <a:xfrm>
            <a:off x="2697480" y="2313432"/>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FAA only</a:t>
            </a:r>
            <a:endParaRPr lang="en-US" sz="1000" dirty="0"/>
          </a:p>
        </p:txBody>
      </p:sp>
      <p:sp>
        <p:nvSpPr>
          <p:cNvPr id="22" name="Text 20"/>
          <p:cNvSpPr/>
          <p:nvPr/>
        </p:nvSpPr>
        <p:spPr>
          <a:xfrm>
            <a:off x="4041648" y="2313432"/>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English</a:t>
            </a:r>
            <a:endParaRPr lang="en-US" sz="1000" dirty="0"/>
          </a:p>
        </p:txBody>
      </p:sp>
      <p:sp>
        <p:nvSpPr>
          <p:cNvPr id="23" name="Text 21"/>
          <p:cNvSpPr/>
          <p:nvPr/>
        </p:nvSpPr>
        <p:spPr>
          <a:xfrm>
            <a:off x="5385816" y="2313432"/>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US servers</a:t>
            </a:r>
            <a:endParaRPr lang="en-US" sz="1000" dirty="0"/>
          </a:p>
        </p:txBody>
      </p:sp>
      <p:sp>
        <p:nvSpPr>
          <p:cNvPr id="24" name="Text 22"/>
          <p:cNvSpPr/>
          <p:nvPr/>
        </p:nvSpPr>
        <p:spPr>
          <a:xfrm>
            <a:off x="6729984" y="2313432"/>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Limited</a:t>
            </a:r>
            <a:endParaRPr lang="en-US" sz="1000" dirty="0"/>
          </a:p>
        </p:txBody>
      </p:sp>
      <p:sp>
        <p:nvSpPr>
          <p:cNvPr id="25" name="Text 23"/>
          <p:cNvSpPr/>
          <p:nvPr/>
        </p:nvSpPr>
        <p:spPr>
          <a:xfrm>
            <a:off x="8074152" y="2313432"/>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~750</a:t>
            </a:r>
            <a:endParaRPr lang="en-US" sz="1000" dirty="0"/>
          </a:p>
        </p:txBody>
      </p:sp>
      <p:sp>
        <p:nvSpPr>
          <p:cNvPr id="26" name="Shape 24"/>
          <p:cNvSpPr/>
          <p:nvPr/>
        </p:nvSpPr>
        <p:spPr>
          <a:xfrm>
            <a:off x="256032" y="2724912"/>
            <a:ext cx="8631936" cy="457200"/>
          </a:xfrm>
          <a:prstGeom prst="rect">
            <a:avLst/>
          </a:prstGeom>
          <a:solidFill>
            <a:srgbClr val="101820"/>
          </a:solidFill>
          <a:ln/>
        </p:spPr>
      </p:sp>
      <p:sp>
        <p:nvSpPr>
          <p:cNvPr id="27" name="Text 25"/>
          <p:cNvSpPr/>
          <p:nvPr/>
        </p:nvSpPr>
        <p:spPr>
          <a:xfrm>
            <a:off x="256032" y="2798064"/>
            <a:ext cx="2423160" cy="32004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Sporty's / King</a:t>
            </a:r>
            <a:endParaRPr lang="en-US" sz="1100" dirty="0"/>
          </a:p>
        </p:txBody>
      </p:sp>
      <p:sp>
        <p:nvSpPr>
          <p:cNvPr id="28" name="Text 26"/>
          <p:cNvSpPr/>
          <p:nvPr/>
        </p:nvSpPr>
        <p:spPr>
          <a:xfrm>
            <a:off x="2697480" y="2798064"/>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FAA only</a:t>
            </a:r>
            <a:endParaRPr lang="en-US" sz="1000" dirty="0"/>
          </a:p>
        </p:txBody>
      </p:sp>
      <p:sp>
        <p:nvSpPr>
          <p:cNvPr id="29" name="Text 27"/>
          <p:cNvSpPr/>
          <p:nvPr/>
        </p:nvSpPr>
        <p:spPr>
          <a:xfrm>
            <a:off x="4041648" y="2798064"/>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English</a:t>
            </a:r>
            <a:endParaRPr lang="en-US" sz="1000" dirty="0"/>
          </a:p>
        </p:txBody>
      </p:sp>
      <p:sp>
        <p:nvSpPr>
          <p:cNvPr id="30" name="Text 28"/>
          <p:cNvSpPr/>
          <p:nvPr/>
        </p:nvSpPr>
        <p:spPr>
          <a:xfrm>
            <a:off x="5385816" y="2798064"/>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US servers</a:t>
            </a:r>
            <a:endParaRPr lang="en-US" sz="1000" dirty="0"/>
          </a:p>
        </p:txBody>
      </p:sp>
      <p:sp>
        <p:nvSpPr>
          <p:cNvPr id="31" name="Text 29"/>
          <p:cNvSpPr/>
          <p:nvPr/>
        </p:nvSpPr>
        <p:spPr>
          <a:xfrm>
            <a:off x="6729984" y="2798064"/>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None</a:t>
            </a:r>
            <a:endParaRPr lang="en-US" sz="1000" dirty="0"/>
          </a:p>
        </p:txBody>
      </p:sp>
      <p:sp>
        <p:nvSpPr>
          <p:cNvPr id="32" name="Text 30"/>
          <p:cNvSpPr/>
          <p:nvPr/>
        </p:nvSpPr>
        <p:spPr>
          <a:xfrm>
            <a:off x="8074152" y="2798064"/>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~1,000</a:t>
            </a:r>
            <a:endParaRPr lang="en-US" sz="1000" dirty="0"/>
          </a:p>
        </p:txBody>
      </p:sp>
      <p:sp>
        <p:nvSpPr>
          <p:cNvPr id="33" name="Shape 31"/>
          <p:cNvSpPr/>
          <p:nvPr/>
        </p:nvSpPr>
        <p:spPr>
          <a:xfrm>
            <a:off x="256032" y="3209544"/>
            <a:ext cx="8631936" cy="457200"/>
          </a:xfrm>
          <a:prstGeom prst="rect">
            <a:avLst/>
          </a:prstGeom>
          <a:solidFill>
            <a:srgbClr val="141C25"/>
          </a:solidFill>
          <a:ln/>
        </p:spPr>
      </p:sp>
      <p:sp>
        <p:nvSpPr>
          <p:cNvPr id="34" name="Text 32"/>
          <p:cNvSpPr/>
          <p:nvPr/>
        </p:nvSpPr>
        <p:spPr>
          <a:xfrm>
            <a:off x="256032" y="3282696"/>
            <a:ext cx="2423160" cy="32004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Boldmethod</a:t>
            </a:r>
            <a:endParaRPr lang="en-US" sz="1100" dirty="0"/>
          </a:p>
        </p:txBody>
      </p:sp>
      <p:sp>
        <p:nvSpPr>
          <p:cNvPr id="35" name="Text 33"/>
          <p:cNvSpPr/>
          <p:nvPr/>
        </p:nvSpPr>
        <p:spPr>
          <a:xfrm>
            <a:off x="2697480" y="3282696"/>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FAA only</a:t>
            </a:r>
            <a:endParaRPr lang="en-US" sz="1000" dirty="0"/>
          </a:p>
        </p:txBody>
      </p:sp>
      <p:sp>
        <p:nvSpPr>
          <p:cNvPr id="36" name="Text 34"/>
          <p:cNvSpPr/>
          <p:nvPr/>
        </p:nvSpPr>
        <p:spPr>
          <a:xfrm>
            <a:off x="4041648" y="3282696"/>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English</a:t>
            </a:r>
            <a:endParaRPr lang="en-US" sz="1000" dirty="0"/>
          </a:p>
        </p:txBody>
      </p:sp>
      <p:sp>
        <p:nvSpPr>
          <p:cNvPr id="37" name="Text 35"/>
          <p:cNvSpPr/>
          <p:nvPr/>
        </p:nvSpPr>
        <p:spPr>
          <a:xfrm>
            <a:off x="5385816" y="3282696"/>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US servers</a:t>
            </a:r>
            <a:endParaRPr lang="en-US" sz="1000" dirty="0"/>
          </a:p>
        </p:txBody>
      </p:sp>
      <p:sp>
        <p:nvSpPr>
          <p:cNvPr id="38" name="Text 36"/>
          <p:cNvSpPr/>
          <p:nvPr/>
        </p:nvSpPr>
        <p:spPr>
          <a:xfrm>
            <a:off x="6729984" y="3282696"/>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None</a:t>
            </a:r>
            <a:endParaRPr lang="en-US" sz="1000" dirty="0"/>
          </a:p>
        </p:txBody>
      </p:sp>
      <p:sp>
        <p:nvSpPr>
          <p:cNvPr id="39" name="Text 37"/>
          <p:cNvSpPr/>
          <p:nvPr/>
        </p:nvSpPr>
        <p:spPr>
          <a:xfrm>
            <a:off x="8074152" y="3282696"/>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~210</a:t>
            </a:r>
            <a:endParaRPr lang="en-US" sz="1000" dirty="0"/>
          </a:p>
        </p:txBody>
      </p:sp>
      <p:sp>
        <p:nvSpPr>
          <p:cNvPr id="40" name="Shape 38"/>
          <p:cNvSpPr/>
          <p:nvPr/>
        </p:nvSpPr>
        <p:spPr>
          <a:xfrm>
            <a:off x="256032" y="3694176"/>
            <a:ext cx="8631936" cy="457200"/>
          </a:xfrm>
          <a:prstGeom prst="rect">
            <a:avLst/>
          </a:prstGeom>
          <a:solidFill>
            <a:srgbClr val="101820"/>
          </a:solidFill>
          <a:ln/>
        </p:spPr>
      </p:sp>
      <p:sp>
        <p:nvSpPr>
          <p:cNvPr id="41" name="Text 39"/>
          <p:cNvSpPr/>
          <p:nvPr/>
        </p:nvSpPr>
        <p:spPr>
          <a:xfrm>
            <a:off x="256032" y="3767328"/>
            <a:ext cx="2423160" cy="32004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Bristol Groundschool</a:t>
            </a:r>
            <a:endParaRPr lang="en-US" sz="1100" dirty="0"/>
          </a:p>
        </p:txBody>
      </p:sp>
      <p:sp>
        <p:nvSpPr>
          <p:cNvPr id="42" name="Text 40"/>
          <p:cNvSpPr/>
          <p:nvPr/>
        </p:nvSpPr>
        <p:spPr>
          <a:xfrm>
            <a:off x="2697480" y="3767328"/>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EASA only</a:t>
            </a:r>
            <a:endParaRPr lang="en-US" sz="1000" dirty="0"/>
          </a:p>
        </p:txBody>
      </p:sp>
      <p:sp>
        <p:nvSpPr>
          <p:cNvPr id="43" name="Text 41"/>
          <p:cNvSpPr/>
          <p:nvPr/>
        </p:nvSpPr>
        <p:spPr>
          <a:xfrm>
            <a:off x="4041648" y="3767328"/>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Partial</a:t>
            </a:r>
            <a:endParaRPr lang="en-US" sz="1000" dirty="0"/>
          </a:p>
        </p:txBody>
      </p:sp>
      <p:sp>
        <p:nvSpPr>
          <p:cNvPr id="44" name="Text 42"/>
          <p:cNvSpPr/>
          <p:nvPr/>
        </p:nvSpPr>
        <p:spPr>
          <a:xfrm>
            <a:off x="5385816" y="3767328"/>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EU servers</a:t>
            </a:r>
            <a:endParaRPr lang="en-US" sz="1000" dirty="0"/>
          </a:p>
        </p:txBody>
      </p:sp>
      <p:sp>
        <p:nvSpPr>
          <p:cNvPr id="45" name="Text 43"/>
          <p:cNvSpPr/>
          <p:nvPr/>
        </p:nvSpPr>
        <p:spPr>
          <a:xfrm>
            <a:off x="6729984" y="3767328"/>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Limited</a:t>
            </a:r>
            <a:endParaRPr lang="en-US" sz="1000" dirty="0"/>
          </a:p>
        </p:txBody>
      </p:sp>
      <p:sp>
        <p:nvSpPr>
          <p:cNvPr id="46" name="Text 44"/>
          <p:cNvSpPr/>
          <p:nvPr/>
        </p:nvSpPr>
        <p:spPr>
          <a:xfrm>
            <a:off x="8074152" y="3767328"/>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~500</a:t>
            </a:r>
            <a:endParaRPr lang="en-US" sz="1000" dirty="0"/>
          </a:p>
        </p:txBody>
      </p:sp>
      <p:sp>
        <p:nvSpPr>
          <p:cNvPr id="47" name="Shape 45"/>
          <p:cNvSpPr/>
          <p:nvPr/>
        </p:nvSpPr>
        <p:spPr>
          <a:xfrm>
            <a:off x="256032" y="4178808"/>
            <a:ext cx="8631936" cy="457200"/>
          </a:xfrm>
          <a:prstGeom prst="rect">
            <a:avLst/>
          </a:prstGeom>
          <a:solidFill>
            <a:srgbClr val="141C25"/>
          </a:solidFill>
          <a:ln/>
        </p:spPr>
      </p:sp>
      <p:sp>
        <p:nvSpPr>
          <p:cNvPr id="48" name="Text 46"/>
          <p:cNvSpPr/>
          <p:nvPr/>
        </p:nvSpPr>
        <p:spPr>
          <a:xfrm>
            <a:off x="256032" y="4251960"/>
            <a:ext cx="2423160" cy="32004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ChatGPT (generic)</a:t>
            </a:r>
            <a:endParaRPr lang="en-US" sz="1100" dirty="0"/>
          </a:p>
        </p:txBody>
      </p:sp>
      <p:sp>
        <p:nvSpPr>
          <p:cNvPr id="49" name="Text 47"/>
          <p:cNvSpPr/>
          <p:nvPr/>
        </p:nvSpPr>
        <p:spPr>
          <a:xfrm>
            <a:off x="2697480" y="4251960"/>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None</a:t>
            </a:r>
            <a:endParaRPr lang="en-US" sz="1000" dirty="0"/>
          </a:p>
        </p:txBody>
      </p:sp>
      <p:sp>
        <p:nvSpPr>
          <p:cNvPr id="50" name="Text 48"/>
          <p:cNvSpPr/>
          <p:nvPr/>
        </p:nvSpPr>
        <p:spPr>
          <a:xfrm>
            <a:off x="4041648" y="4251960"/>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Partial</a:t>
            </a:r>
            <a:endParaRPr lang="en-US" sz="1000" dirty="0"/>
          </a:p>
        </p:txBody>
      </p:sp>
      <p:sp>
        <p:nvSpPr>
          <p:cNvPr id="51" name="Text 49"/>
          <p:cNvSpPr/>
          <p:nvPr/>
        </p:nvSpPr>
        <p:spPr>
          <a:xfrm>
            <a:off x="5385816" y="4251960"/>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US servers</a:t>
            </a:r>
            <a:endParaRPr lang="en-US" sz="1000" dirty="0"/>
          </a:p>
        </p:txBody>
      </p:sp>
      <p:sp>
        <p:nvSpPr>
          <p:cNvPr id="52" name="Text 50"/>
          <p:cNvSpPr/>
          <p:nvPr/>
        </p:nvSpPr>
        <p:spPr>
          <a:xfrm>
            <a:off x="6729984" y="4251960"/>
            <a:ext cx="1325880" cy="320040"/>
          </a:xfrm>
          <a:prstGeom prst="rect">
            <a:avLst/>
          </a:prstGeom>
          <a:noFill/>
          <a:ln/>
        </p:spPr>
        <p:txBody>
          <a:bodyPr wrap="square" lIns="0" tIns="0" rIns="0" bIns="0" rtlCol="0" anchor="ctr"/>
          <a:lstStyle/>
          <a:p>
            <a:pPr algn="ctr" indent="0" marL="0">
              <a:buNone/>
            </a:pPr>
            <a:r>
              <a:rPr lang="en-US" sz="1000" dirty="0">
                <a:solidFill>
                  <a:srgbClr val="EF4444"/>
                </a:solidFill>
                <a:latin typeface="Calibri" pitchFamily="34" charset="0"/>
                <a:ea typeface="Calibri" pitchFamily="34" charset="-122"/>
                <a:cs typeface="Calibri" pitchFamily="34" charset="-120"/>
              </a:rPr>
              <a:t>None</a:t>
            </a:r>
            <a:endParaRPr lang="en-US" sz="1000" dirty="0"/>
          </a:p>
        </p:txBody>
      </p:sp>
      <p:sp>
        <p:nvSpPr>
          <p:cNvPr id="53" name="Text 51"/>
          <p:cNvSpPr/>
          <p:nvPr/>
        </p:nvSpPr>
        <p:spPr>
          <a:xfrm>
            <a:off x="8074152" y="4251960"/>
            <a:ext cx="1325880" cy="32004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~280</a:t>
            </a:r>
            <a:endParaRPr lang="en-US" sz="1000" dirty="0"/>
          </a:p>
        </p:txBody>
      </p:sp>
      <p:sp>
        <p:nvSpPr>
          <p:cNvPr id="54" name="Text 52"/>
          <p:cNvSpPr/>
          <p:nvPr/>
        </p:nvSpPr>
        <p:spPr>
          <a:xfrm>
            <a:off x="320040" y="4800600"/>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STRATEGY-competitive-teardown.md · MONETIZATION.md market benchmarks (June 2026) · Prices approx in SAR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CC"/>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00B4CC"/>
                </a:solidFill>
                <a:latin typeface="Calibri" pitchFamily="34" charset="0"/>
                <a:ea typeface="Calibri" pitchFamily="34" charset="-122"/>
                <a:cs typeface="Calibri" pitchFamily="34" charset="-120"/>
              </a:rPr>
              <a:t>TRACTION &amp; ROADMAP</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000" b="1" dirty="0">
                <a:solidFill>
                  <a:srgbClr val="F0F4F8"/>
                </a:solidFill>
                <a:latin typeface="Calibri" pitchFamily="34" charset="0"/>
                <a:ea typeface="Calibri" pitchFamily="34" charset="-122"/>
                <a:cs typeface="Calibri" pitchFamily="34" charset="-120"/>
              </a:rPr>
              <a:t>Build far ahead of go-to-market · legal entity is the critical path.</a:t>
            </a:r>
            <a:endParaRPr lang="en-US" sz="2000" dirty="0"/>
          </a:p>
        </p:txBody>
      </p:sp>
      <p:sp>
        <p:nvSpPr>
          <p:cNvPr id="5" name="Text 3"/>
          <p:cNvSpPr/>
          <p:nvPr/>
        </p:nvSpPr>
        <p:spPr>
          <a:xfrm>
            <a:off x="320040" y="1298448"/>
            <a:ext cx="4114800" cy="274320"/>
          </a:xfrm>
          <a:prstGeom prst="rect">
            <a:avLst/>
          </a:prstGeom>
          <a:noFill/>
          <a:ln/>
        </p:spPr>
        <p:txBody>
          <a:bodyPr wrap="square" lIns="0" tIns="0" rIns="0" bIns="0" rtlCol="0" anchor="ctr"/>
          <a:lstStyle/>
          <a:p>
            <a:pPr indent="0" marL="0">
              <a:buNone/>
            </a:pPr>
            <a:r>
              <a:rPr lang="en-US" sz="1000" b="1" spc="200" kern="0" dirty="0">
                <a:solidFill>
                  <a:srgbClr val="00B4CC"/>
                </a:solidFill>
                <a:latin typeface="Calibri" pitchFamily="34" charset="0"/>
                <a:ea typeface="Calibri" pitchFamily="34" charset="-122"/>
                <a:cs typeface="Calibri" pitchFamily="34" charset="-120"/>
              </a:rPr>
              <a:t>WHAT'S LIVE (June 2026)</a:t>
            </a:r>
            <a:endParaRPr lang="en-US" sz="1000" dirty="0"/>
          </a:p>
        </p:txBody>
      </p:sp>
      <p:sp>
        <p:nvSpPr>
          <p:cNvPr id="6" name="Text 4"/>
          <p:cNvSpPr/>
          <p:nvPr/>
        </p:nvSpPr>
        <p:spPr>
          <a:xfrm>
            <a:off x="320040" y="1645920"/>
            <a:ext cx="4114800" cy="3063240"/>
          </a:xfrm>
          <a:prstGeom prst="rect">
            <a:avLst/>
          </a:prstGeom>
          <a:noFill/>
          <a:ln/>
        </p:spPr>
        <p:txBody>
          <a:bodyPr wrap="square" rtlCol="0" anchor="ctr"/>
          <a:lstStyle/>
          <a:p>
            <a:pPr marL="342900" indent="-342900">
              <a:spcAft>
                <a:spcPts val="400"/>
              </a:spcAft>
              <a:buSzPct val="100000"/>
              <a:buChar char="•"/>
            </a:pPr>
            <a:r>
              <a:rPr lang="en-US" sz="1000" dirty="0">
                <a:solidFill>
                  <a:srgbClr val="F0F4F8"/>
                </a:solidFill>
                <a:latin typeface="Calibri" pitchFamily="34" charset="0"/>
                <a:ea typeface="Calibri" pitchFamily="34" charset="-122"/>
                <a:cs typeface="Calibri" pitchFamily="34" charset="-120"/>
              </a:rPr>
              <a:t>Full GACAR library live at flygaca-firebase.web.app</a:t>
            </a:r>
            <a:endParaRPr lang="en-US" sz="1000" dirty="0"/>
          </a:p>
          <a:p>
            <a:pPr marL="342900" indent="-342900">
              <a:spcAft>
                <a:spcPts val="400"/>
              </a:spcAft>
              <a:buSzPct val="100000"/>
              <a:buChar char="•"/>
            </a:pPr>
            <a:r>
              <a:rPr lang="en-US" sz="1000" dirty="0">
                <a:solidFill>
                  <a:srgbClr val="F0F4F8"/>
                </a:solidFill>
                <a:latin typeface="Calibri" pitchFamily="34" charset="0"/>
                <a:ea typeface="Calibri" pitchFamily="34" charset="-122"/>
                <a:cs typeface="Calibri" pitchFamily="34" charset="-120"/>
              </a:rPr>
              <a:t>Captain Adel RAG on Gemini 2.5 Flash · 71% eval pass rate (5/7 categories)</a:t>
            </a:r>
            <a:endParaRPr lang="en-US" sz="1000" dirty="0"/>
          </a:p>
          <a:p>
            <a:pPr marL="342900" indent="-342900">
              <a:spcAft>
                <a:spcPts val="400"/>
              </a:spcAft>
              <a:buSzPct val="100000"/>
              <a:buChar char="•"/>
            </a:pPr>
            <a:r>
              <a:rPr lang="en-US" sz="1000" dirty="0">
                <a:solidFill>
                  <a:srgbClr val="F0F4F8"/>
                </a:solidFill>
                <a:latin typeface="Calibri" pitchFamily="34" charset="0"/>
                <a:ea typeface="Calibri" pitchFamily="34" charset="-122"/>
                <a:cs typeface="Calibri" pitchFamily="34" charset="-120"/>
              </a:rPr>
              <a:t>162-question exam bank · 34-lesson Ground School · flashcards</a:t>
            </a:r>
            <a:endParaRPr lang="en-US" sz="1000" dirty="0"/>
          </a:p>
          <a:p>
            <a:pPr marL="342900" indent="-342900">
              <a:spcAft>
                <a:spcPts val="400"/>
              </a:spcAft>
              <a:buSzPct val="100000"/>
              <a:buChar char="•"/>
            </a:pPr>
            <a:r>
              <a:rPr lang="en-US" sz="1000" dirty="0">
                <a:solidFill>
                  <a:srgbClr val="F0F4F8"/>
                </a:solidFill>
                <a:latin typeface="Calibri" pitchFamily="34" charset="0"/>
                <a:ea typeface="Calibri" pitchFamily="34" charset="-122"/>
                <a:cs typeface="Calibri" pitchFamily="34" charset="-120"/>
              </a:rPr>
              <a:t>Digital logbook + GACAR Part 61 currency tracker — built, PDPL-gated for launch</a:t>
            </a:r>
            <a:endParaRPr lang="en-US" sz="1000" dirty="0"/>
          </a:p>
          <a:p>
            <a:pPr marL="342900" indent="-342900">
              <a:spcAft>
                <a:spcPts val="400"/>
              </a:spcAft>
              <a:buSzPct val="100000"/>
              <a:buChar char="•"/>
            </a:pPr>
            <a:r>
              <a:rPr lang="en-US" sz="1000" dirty="0">
                <a:solidFill>
                  <a:srgbClr val="F0F4F8"/>
                </a:solidFill>
                <a:latin typeface="Calibri" pitchFamily="34" charset="0"/>
                <a:ea typeface="Calibri" pitchFamily="34" charset="-122"/>
                <a:cs typeface="Calibri" pitchFamily="34" charset="-120"/>
              </a:rPr>
              <a:t>Billing stack built &amp; dormant: Stripe, RevenueCat, B2B seat licences</a:t>
            </a:r>
            <a:endParaRPr lang="en-US" sz="1000" dirty="0"/>
          </a:p>
          <a:p>
            <a:pPr marL="342900" indent="-342900">
              <a:spcAft>
                <a:spcPts val="400"/>
              </a:spcAft>
              <a:buSzPct val="100000"/>
              <a:buChar char="•"/>
            </a:pPr>
            <a:r>
              <a:rPr lang="en-US" sz="1000" dirty="0">
                <a:solidFill>
                  <a:srgbClr val="F0F4F8"/>
                </a:solidFill>
                <a:latin typeface="Calibri" pitchFamily="34" charset="0"/>
                <a:ea typeface="Calibri" pitchFamily="34" charset="-122"/>
                <a:cs typeface="Calibri" pitchFamily="34" charset="-120"/>
              </a:rPr>
              <a:t>50 Playwright E2E tests passing · eval harness + rate-limits shipped</a:t>
            </a:r>
            <a:endParaRPr lang="en-US" sz="1000" dirty="0"/>
          </a:p>
          <a:p>
            <a:pPr marL="342900" indent="-342900">
              <a:spcAft>
                <a:spcPts val="400"/>
              </a:spcAft>
              <a:buSzPct val="100000"/>
              <a:buChar char="•"/>
            </a:pPr>
            <a:r>
              <a:rPr lang="en-US" sz="1000" dirty="0">
                <a:solidFill>
                  <a:srgbClr val="F0F4F8"/>
                </a:solidFill>
                <a:latin typeface="Calibri" pitchFamily="34" charset="0"/>
                <a:ea typeface="Calibri" pitchFamily="34" charset="-122"/>
                <a:cs typeface="Calibri" pitchFamily="34" charset="-120"/>
              </a:rPr>
              <a:t>312 beta users · 30-day retention of paying beta cohort: 100% (18 users)</a:t>
            </a:r>
            <a:endParaRPr lang="en-US" sz="1000" dirty="0"/>
          </a:p>
        </p:txBody>
      </p:sp>
      <p:sp>
        <p:nvSpPr>
          <p:cNvPr id="7" name="Text 5"/>
          <p:cNvSpPr/>
          <p:nvPr/>
        </p:nvSpPr>
        <p:spPr>
          <a:xfrm>
            <a:off x="320040" y="4846320"/>
            <a:ext cx="4114800" cy="182880"/>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ROADMAP.md · DDQ v1.0</a:t>
            </a:r>
            <a:endParaRPr lang="en-US" sz="800" dirty="0"/>
          </a:p>
        </p:txBody>
      </p:sp>
      <p:sp>
        <p:nvSpPr>
          <p:cNvPr id="8" name="Shape 6"/>
          <p:cNvSpPr/>
          <p:nvPr/>
        </p:nvSpPr>
        <p:spPr>
          <a:xfrm>
            <a:off x="4617720" y="1234440"/>
            <a:ext cx="18288" cy="3657600"/>
          </a:xfrm>
          <a:prstGeom prst="rect">
            <a:avLst/>
          </a:prstGeom>
          <a:solidFill>
            <a:srgbClr val="1E2D3D"/>
          </a:solidFill>
          <a:ln/>
        </p:spPr>
      </p:sp>
      <p:sp>
        <p:nvSpPr>
          <p:cNvPr id="9" name="Text 7"/>
          <p:cNvSpPr/>
          <p:nvPr/>
        </p:nvSpPr>
        <p:spPr>
          <a:xfrm>
            <a:off x="4709160" y="1298448"/>
            <a:ext cx="4114800" cy="274320"/>
          </a:xfrm>
          <a:prstGeom prst="rect">
            <a:avLst/>
          </a:prstGeom>
          <a:noFill/>
          <a:ln/>
        </p:spPr>
        <p:txBody>
          <a:bodyPr wrap="square" lIns="0" tIns="0" rIns="0" bIns="0" rtlCol="0" anchor="ctr"/>
          <a:lstStyle/>
          <a:p>
            <a:pPr indent="0" marL="0">
              <a:buNone/>
            </a:pPr>
            <a:r>
              <a:rPr lang="en-US" sz="1000" b="1" spc="200" kern="0" dirty="0">
                <a:solidFill>
                  <a:srgbClr val="FFB020"/>
                </a:solidFill>
                <a:latin typeface="Calibri" pitchFamily="34" charset="0"/>
                <a:ea typeface="Calibri" pitchFamily="34" charset="-122"/>
                <a:cs typeface="Calibri" pitchFamily="34" charset="-120"/>
              </a:rPr>
              <a:t>MILESTONES AHEAD</a:t>
            </a:r>
            <a:endParaRPr lang="en-US" sz="1000" dirty="0"/>
          </a:p>
        </p:txBody>
      </p:sp>
      <p:sp>
        <p:nvSpPr>
          <p:cNvPr id="10" name="Shape 8"/>
          <p:cNvSpPr/>
          <p:nvPr/>
        </p:nvSpPr>
        <p:spPr>
          <a:xfrm>
            <a:off x="4709160" y="1664208"/>
            <a:ext cx="4114800" cy="658368"/>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11" name="Shape 9"/>
          <p:cNvSpPr/>
          <p:nvPr/>
        </p:nvSpPr>
        <p:spPr>
          <a:xfrm>
            <a:off x="4709160" y="1664208"/>
            <a:ext cx="45720" cy="658368"/>
          </a:xfrm>
          <a:prstGeom prst="rect">
            <a:avLst/>
          </a:prstGeom>
          <a:solidFill>
            <a:srgbClr val="FFB020"/>
          </a:solidFill>
          <a:ln/>
        </p:spPr>
      </p:sp>
      <p:sp>
        <p:nvSpPr>
          <p:cNvPr id="12" name="Text 10"/>
          <p:cNvSpPr/>
          <p:nvPr/>
        </p:nvSpPr>
        <p:spPr>
          <a:xfrm>
            <a:off x="4800600" y="1709928"/>
            <a:ext cx="1097280" cy="228600"/>
          </a:xfrm>
          <a:prstGeom prst="rect">
            <a:avLst/>
          </a:prstGeom>
          <a:noFill/>
          <a:ln/>
        </p:spPr>
        <p:txBody>
          <a:bodyPr wrap="square" lIns="0" tIns="0" rIns="0" bIns="0" rtlCol="0" anchor="ctr"/>
          <a:lstStyle/>
          <a:p>
            <a:pPr indent="0" marL="0">
              <a:buNone/>
            </a:pPr>
            <a:r>
              <a:rPr lang="en-US" sz="900" b="1" dirty="0">
                <a:solidFill>
                  <a:srgbClr val="FFB020"/>
                </a:solidFill>
                <a:latin typeface="Calibri" pitchFamily="34" charset="0"/>
                <a:ea typeface="Calibri" pitchFamily="34" charset="-122"/>
                <a:cs typeface="Calibri" pitchFamily="34" charset="-120"/>
              </a:rPr>
              <a:t>Q3 2026</a:t>
            </a:r>
            <a:endParaRPr lang="en-US" sz="900" dirty="0"/>
          </a:p>
        </p:txBody>
      </p:sp>
      <p:sp>
        <p:nvSpPr>
          <p:cNvPr id="13" name="Text 11"/>
          <p:cNvSpPr/>
          <p:nvPr/>
        </p:nvSpPr>
        <p:spPr>
          <a:xfrm>
            <a:off x="4800600" y="1956816"/>
            <a:ext cx="3913632" cy="292608"/>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CR registered · flygaca.com live · PDPL DPIA signed · 1st paying academy</a:t>
            </a:r>
            <a:endParaRPr lang="en-US" sz="950" dirty="0"/>
          </a:p>
        </p:txBody>
      </p:sp>
      <p:sp>
        <p:nvSpPr>
          <p:cNvPr id="14" name="Shape 12"/>
          <p:cNvSpPr/>
          <p:nvPr/>
        </p:nvSpPr>
        <p:spPr>
          <a:xfrm>
            <a:off x="4709160" y="2414016"/>
            <a:ext cx="4114800" cy="658368"/>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15" name="Shape 13"/>
          <p:cNvSpPr/>
          <p:nvPr/>
        </p:nvSpPr>
        <p:spPr>
          <a:xfrm>
            <a:off x="4709160" y="2414016"/>
            <a:ext cx="45720" cy="658368"/>
          </a:xfrm>
          <a:prstGeom prst="rect">
            <a:avLst/>
          </a:prstGeom>
          <a:solidFill>
            <a:srgbClr val="FFB020"/>
          </a:solidFill>
          <a:ln/>
        </p:spPr>
      </p:sp>
      <p:sp>
        <p:nvSpPr>
          <p:cNvPr id="16" name="Text 14"/>
          <p:cNvSpPr/>
          <p:nvPr/>
        </p:nvSpPr>
        <p:spPr>
          <a:xfrm>
            <a:off x="4800600" y="2459736"/>
            <a:ext cx="1097280" cy="228600"/>
          </a:xfrm>
          <a:prstGeom prst="rect">
            <a:avLst/>
          </a:prstGeom>
          <a:noFill/>
          <a:ln/>
        </p:spPr>
        <p:txBody>
          <a:bodyPr wrap="square" lIns="0" tIns="0" rIns="0" bIns="0" rtlCol="0" anchor="ctr"/>
          <a:lstStyle/>
          <a:p>
            <a:pPr indent="0" marL="0">
              <a:buNone/>
            </a:pPr>
            <a:r>
              <a:rPr lang="en-US" sz="900" b="1" dirty="0">
                <a:solidFill>
                  <a:srgbClr val="FFB020"/>
                </a:solidFill>
                <a:latin typeface="Calibri" pitchFamily="34" charset="0"/>
                <a:ea typeface="Calibri" pitchFamily="34" charset="-122"/>
                <a:cs typeface="Calibri" pitchFamily="34" charset="-120"/>
              </a:rPr>
              <a:t>Q4 2026</a:t>
            </a:r>
            <a:endParaRPr lang="en-US" sz="900" dirty="0"/>
          </a:p>
        </p:txBody>
      </p:sp>
      <p:sp>
        <p:nvSpPr>
          <p:cNvPr id="17" name="Text 15"/>
          <p:cNvSpPr/>
          <p:nvPr/>
        </p:nvSpPr>
        <p:spPr>
          <a:xfrm>
            <a:off x="4800600" y="2706624"/>
            <a:ext cx="3913632" cy="292608"/>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Stripe live · 1 paid academy · 200 Pro subscribers · GM ≥75% · MRR ≥100K SAR</a:t>
            </a:r>
            <a:endParaRPr lang="en-US" sz="950" dirty="0"/>
          </a:p>
        </p:txBody>
      </p:sp>
      <p:sp>
        <p:nvSpPr>
          <p:cNvPr id="18" name="Shape 16"/>
          <p:cNvSpPr/>
          <p:nvPr/>
        </p:nvSpPr>
        <p:spPr>
          <a:xfrm>
            <a:off x="4709160" y="3163824"/>
            <a:ext cx="4114800" cy="658368"/>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19" name="Shape 17"/>
          <p:cNvSpPr/>
          <p:nvPr/>
        </p:nvSpPr>
        <p:spPr>
          <a:xfrm>
            <a:off x="4709160" y="3163824"/>
            <a:ext cx="45720" cy="658368"/>
          </a:xfrm>
          <a:prstGeom prst="rect">
            <a:avLst/>
          </a:prstGeom>
          <a:solidFill>
            <a:srgbClr val="00B4CC"/>
          </a:solidFill>
          <a:ln/>
        </p:spPr>
      </p:sp>
      <p:sp>
        <p:nvSpPr>
          <p:cNvPr id="20" name="Text 18"/>
          <p:cNvSpPr/>
          <p:nvPr/>
        </p:nvSpPr>
        <p:spPr>
          <a:xfrm>
            <a:off x="4800600" y="3209544"/>
            <a:ext cx="1097280" cy="228600"/>
          </a:xfrm>
          <a:prstGeom prst="rect">
            <a:avLst/>
          </a:prstGeom>
          <a:noFill/>
          <a:ln/>
        </p:spPr>
        <p:txBody>
          <a:bodyPr wrap="square" lIns="0" tIns="0" rIns="0" bIns="0" rtlCol="0" anchor="ctr"/>
          <a:lstStyle/>
          <a:p>
            <a:pPr indent="0" marL="0">
              <a:buNone/>
            </a:pPr>
            <a:r>
              <a:rPr lang="en-US" sz="900" b="1" dirty="0">
                <a:solidFill>
                  <a:srgbClr val="00B4CC"/>
                </a:solidFill>
                <a:latin typeface="Calibri" pitchFamily="34" charset="0"/>
                <a:ea typeface="Calibri" pitchFamily="34" charset="-122"/>
                <a:cs typeface="Calibri" pitchFamily="34" charset="-120"/>
              </a:rPr>
              <a:t>Q1–Q2 2027</a:t>
            </a:r>
            <a:endParaRPr lang="en-US" sz="900" dirty="0"/>
          </a:p>
        </p:txBody>
      </p:sp>
      <p:sp>
        <p:nvSpPr>
          <p:cNvPr id="21" name="Text 19"/>
          <p:cNvSpPr/>
          <p:nvPr/>
        </p:nvSpPr>
        <p:spPr>
          <a:xfrm>
            <a:off x="4800600" y="3456432"/>
            <a:ext cx="3913632" cy="292608"/>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3 paid academies · 700 Pro subs · RAG eval 83%+ · NPS ≥70 · 4 FTEs</a:t>
            </a:r>
            <a:endParaRPr lang="en-US" sz="950" dirty="0"/>
          </a:p>
        </p:txBody>
      </p:sp>
      <p:sp>
        <p:nvSpPr>
          <p:cNvPr id="22" name="Shape 20"/>
          <p:cNvSpPr/>
          <p:nvPr/>
        </p:nvSpPr>
        <p:spPr>
          <a:xfrm>
            <a:off x="4709160" y="3913632"/>
            <a:ext cx="4114800" cy="658368"/>
          </a:xfrm>
          <a:prstGeom prst="rect">
            <a:avLst/>
          </a:prstGeom>
          <a:solidFill>
            <a:srgbClr val="141C25"/>
          </a:solidFill>
          <a:ln/>
          <a:effectLst>
            <a:outerShdw sx="100000" sy="100000" kx="0" ky="0" algn="bl" rotWithShape="0" blurRad="76200" dist="25400" dir="8100000">
              <a:srgbClr val="000000">
                <a:alpha val="12000"/>
              </a:srgbClr>
            </a:outerShdw>
          </a:effectLst>
        </p:spPr>
      </p:sp>
      <p:sp>
        <p:nvSpPr>
          <p:cNvPr id="23" name="Shape 21"/>
          <p:cNvSpPr/>
          <p:nvPr/>
        </p:nvSpPr>
        <p:spPr>
          <a:xfrm>
            <a:off x="4709160" y="3913632"/>
            <a:ext cx="45720" cy="658368"/>
          </a:xfrm>
          <a:prstGeom prst="rect">
            <a:avLst/>
          </a:prstGeom>
          <a:solidFill>
            <a:srgbClr val="00B4CC"/>
          </a:solidFill>
          <a:ln/>
        </p:spPr>
      </p:sp>
      <p:sp>
        <p:nvSpPr>
          <p:cNvPr id="24" name="Text 22"/>
          <p:cNvSpPr/>
          <p:nvPr/>
        </p:nvSpPr>
        <p:spPr>
          <a:xfrm>
            <a:off x="4800600" y="3959352"/>
            <a:ext cx="1097280" cy="228600"/>
          </a:xfrm>
          <a:prstGeom prst="rect">
            <a:avLst/>
          </a:prstGeom>
          <a:noFill/>
          <a:ln/>
        </p:spPr>
        <p:txBody>
          <a:bodyPr wrap="square" lIns="0" tIns="0" rIns="0" bIns="0" rtlCol="0" anchor="ctr"/>
          <a:lstStyle/>
          <a:p>
            <a:pPr indent="0" marL="0">
              <a:buNone/>
            </a:pPr>
            <a:r>
              <a:rPr lang="en-US" sz="900" b="1" dirty="0">
                <a:solidFill>
                  <a:srgbClr val="00B4CC"/>
                </a:solidFill>
                <a:latin typeface="Calibri" pitchFamily="34" charset="0"/>
                <a:ea typeface="Calibri" pitchFamily="34" charset="-122"/>
                <a:cs typeface="Calibri" pitchFamily="34" charset="-120"/>
              </a:rPr>
              <a:t>Sep 2027</a:t>
            </a:r>
            <a:endParaRPr lang="en-US" sz="900" dirty="0"/>
          </a:p>
        </p:txBody>
      </p:sp>
      <p:sp>
        <p:nvSpPr>
          <p:cNvPr id="25" name="Text 23"/>
          <p:cNvSpPr/>
          <p:nvPr/>
        </p:nvSpPr>
        <p:spPr>
          <a:xfrm>
            <a:off x="4800600" y="4206240"/>
            <a:ext cx="3913632" cy="292608"/>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Series A term sheet · 5 academies · 1,500 Pro subscribers · ARR ≥1.8M SAR</a:t>
            </a:r>
            <a:endParaRPr lang="en-US" sz="950" dirty="0"/>
          </a:p>
        </p:txBody>
      </p:sp>
      <p:sp>
        <p:nvSpPr>
          <p:cNvPr id="26" name="Text 24"/>
          <p:cNvSpPr/>
          <p:nvPr/>
        </p:nvSpPr>
        <p:spPr>
          <a:xfrm>
            <a:off x="4709160" y="4846320"/>
            <a:ext cx="4114800" cy="182880"/>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Annual OKR Plan FY2026-2027 · ROADMAP.md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B020"/>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FFB020"/>
                </a:solidFill>
                <a:latin typeface="Calibri" pitchFamily="34" charset="0"/>
                <a:ea typeface="Calibri" pitchFamily="34" charset="-122"/>
                <a:cs typeface="Calibri" pitchFamily="34" charset="-120"/>
              </a:rPr>
              <a:t>TEAM</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100" b="1" dirty="0">
                <a:solidFill>
                  <a:srgbClr val="F0F4F8"/>
                </a:solidFill>
                <a:latin typeface="Calibri" pitchFamily="34" charset="0"/>
                <a:ea typeface="Calibri" pitchFamily="34" charset="-122"/>
                <a:cs typeface="Calibri" pitchFamily="34" charset="-120"/>
              </a:rPr>
              <a:t>Solo founder · GACA-licensed ATPL+CFII · full-time since Q3 2025.</a:t>
            </a:r>
            <a:endParaRPr lang="en-US" sz="2100" dirty="0"/>
          </a:p>
        </p:txBody>
      </p:sp>
      <p:sp>
        <p:nvSpPr>
          <p:cNvPr id="5" name="Shape 3"/>
          <p:cNvSpPr/>
          <p:nvPr/>
        </p:nvSpPr>
        <p:spPr>
          <a:xfrm>
            <a:off x="320040" y="1371600"/>
            <a:ext cx="4114800" cy="338328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6" name="Shape 4"/>
          <p:cNvSpPr/>
          <p:nvPr/>
        </p:nvSpPr>
        <p:spPr>
          <a:xfrm>
            <a:off x="320040" y="1371600"/>
            <a:ext cx="4114800" cy="54864"/>
          </a:xfrm>
          <a:prstGeom prst="rect">
            <a:avLst/>
          </a:prstGeom>
          <a:solidFill>
            <a:srgbClr val="FFB020"/>
          </a:solidFill>
          <a:ln/>
        </p:spPr>
      </p:sp>
      <p:sp>
        <p:nvSpPr>
          <p:cNvPr id="7" name="Text 5"/>
          <p:cNvSpPr/>
          <p:nvPr/>
        </p:nvSpPr>
        <p:spPr>
          <a:xfrm>
            <a:off x="457200" y="1481328"/>
            <a:ext cx="3840480" cy="420624"/>
          </a:xfrm>
          <a:prstGeom prst="rect">
            <a:avLst/>
          </a:prstGeom>
          <a:noFill/>
          <a:ln/>
        </p:spPr>
        <p:txBody>
          <a:bodyPr wrap="square" lIns="0" tIns="0" rIns="0" bIns="0"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Captain Adel Yahya A. Madkhali</a:t>
            </a:r>
            <a:endParaRPr lang="en-US" sz="1500" dirty="0"/>
          </a:p>
        </p:txBody>
      </p:sp>
      <p:sp>
        <p:nvSpPr>
          <p:cNvPr id="8" name="Text 6"/>
          <p:cNvSpPr/>
          <p:nvPr/>
        </p:nvSpPr>
        <p:spPr>
          <a:xfrm>
            <a:off x="457200" y="1901952"/>
            <a:ext cx="3840480" cy="274320"/>
          </a:xfrm>
          <a:prstGeom prst="rect">
            <a:avLst/>
          </a:prstGeom>
          <a:noFill/>
          <a:ln/>
        </p:spPr>
        <p:txBody>
          <a:bodyPr wrap="square" lIns="0" tIns="0" rIns="0" bIns="0" rtlCol="0" anchor="ctr"/>
          <a:lstStyle/>
          <a:p>
            <a:pPr indent="0" marL="0">
              <a:buNone/>
            </a:pPr>
            <a:r>
              <a:rPr lang="en-US" sz="1200" dirty="0">
                <a:solidFill>
                  <a:srgbClr val="FFB020"/>
                </a:solidFill>
                <a:latin typeface="Calibri" pitchFamily="34" charset="0"/>
                <a:ea typeface="Calibri" pitchFamily="34" charset="-122"/>
                <a:cs typeface="Calibri" pitchFamily="34" charset="-120"/>
              </a:rPr>
              <a:t>Founder &amp; CEO</a:t>
            </a:r>
            <a:endParaRPr lang="en-US" sz="1200" dirty="0"/>
          </a:p>
        </p:txBody>
      </p:sp>
      <p:sp>
        <p:nvSpPr>
          <p:cNvPr id="9" name="Text 7"/>
          <p:cNvSpPr/>
          <p:nvPr/>
        </p:nvSpPr>
        <p:spPr>
          <a:xfrm>
            <a:off x="457200" y="2286000"/>
            <a:ext cx="3840480" cy="2331720"/>
          </a:xfrm>
          <a:prstGeom prst="rect">
            <a:avLst/>
          </a:prstGeom>
          <a:noFill/>
          <a:ln/>
        </p:spPr>
        <p:txBody>
          <a:bodyPr wrap="square" rtlCol="0" anchor="ctr"/>
          <a:lstStyle/>
          <a:p>
            <a:pPr marL="342900" indent="-342900">
              <a:spcAft>
                <a:spcPts val="500"/>
              </a:spcAft>
              <a:buSzPct val="100000"/>
              <a:buChar char="•"/>
            </a:pPr>
            <a:r>
              <a:rPr lang="en-US" sz="1050" dirty="0">
                <a:solidFill>
                  <a:srgbClr val="F0F4F8"/>
                </a:solidFill>
                <a:latin typeface="Calibri" pitchFamily="34" charset="0"/>
                <a:ea typeface="Calibri" pitchFamily="34" charset="-122"/>
                <a:cs typeface="Calibri" pitchFamily="34" charset="-120"/>
              </a:rPr>
              <a:t>GACA-Licensed ATPL + CFII — unique credential combination in KSA EdTech</a:t>
            </a:r>
            <a:endParaRPr lang="en-US" sz="1050" dirty="0"/>
          </a:p>
          <a:p>
            <a:pPr marL="342900" indent="-342900">
              <a:spcAft>
                <a:spcPts val="500"/>
              </a:spcAft>
              <a:buSzPct val="100000"/>
              <a:buChar char="•"/>
            </a:pPr>
            <a:r>
              <a:rPr lang="en-US" sz="1050" dirty="0">
                <a:solidFill>
                  <a:srgbClr val="F0F4F8"/>
                </a:solidFill>
                <a:latin typeface="Calibri" pitchFamily="34" charset="0"/>
                <a:ea typeface="Calibri" pitchFamily="34" charset="-122"/>
                <a:cs typeface="Calibri" pitchFamily="34" charset="-120"/>
              </a:rPr>
              <a:t>Self-funded: ~85,000 SAR since Q3 2025 (DDQ)</a:t>
            </a:r>
            <a:endParaRPr lang="en-US" sz="1050" dirty="0"/>
          </a:p>
          <a:p>
            <a:pPr marL="342900" indent="-342900">
              <a:spcAft>
                <a:spcPts val="500"/>
              </a:spcAft>
              <a:buSzPct val="100000"/>
              <a:buChar char="•"/>
            </a:pPr>
            <a:r>
              <a:rPr lang="en-US" sz="1050" dirty="0">
                <a:solidFill>
                  <a:srgbClr val="F0F4F8"/>
                </a:solidFill>
                <a:latin typeface="Calibri" pitchFamily="34" charset="0"/>
                <a:ea typeface="Calibri" pitchFamily="34" charset="-122"/>
                <a:cs typeface="Calibri" pitchFamily="34" charset="-120"/>
              </a:rPr>
              <a:t>No concurrent employment; full-time on Fly GACA</a:t>
            </a:r>
            <a:endParaRPr lang="en-US" sz="1050" dirty="0"/>
          </a:p>
          <a:p>
            <a:pPr marL="342900" indent="-342900">
              <a:spcAft>
                <a:spcPts val="500"/>
              </a:spcAft>
              <a:buSzPct val="100000"/>
              <a:buChar char="•"/>
            </a:pPr>
            <a:r>
              <a:rPr lang="en-US" sz="1050" dirty="0">
                <a:solidFill>
                  <a:srgbClr val="F0F4F8"/>
                </a:solidFill>
                <a:latin typeface="Calibri" pitchFamily="34" charset="0"/>
                <a:ea typeface="Calibri" pitchFamily="34" charset="-122"/>
                <a:cs typeface="Calibri" pitchFamily="34" charset="-120"/>
              </a:rPr>
              <a:t>Advisory board: 3 members — aviation regulatory, KSA EdTech operator, ML/AI</a:t>
            </a:r>
            <a:endParaRPr lang="en-US" sz="1050" dirty="0"/>
          </a:p>
          <a:p>
            <a:pPr marL="342900" indent="-342900">
              <a:spcAft>
                <a:spcPts val="500"/>
              </a:spcAft>
              <a:buSzPct val="100000"/>
              <a:buChar char="•"/>
            </a:pPr>
            <a:r>
              <a:rPr lang="en-US" sz="1050" dirty="0">
                <a:solidFill>
                  <a:srgbClr val="F0F4F8"/>
                </a:solidFill>
                <a:latin typeface="Calibri" pitchFamily="34" charset="0"/>
                <a:ea typeface="Calibri" pitchFamily="34" charset="-122"/>
                <a:cs typeface="Calibri" pitchFamily="34" charset="-120"/>
              </a:rPr>
              <a:t>100% equity pre-bridge · ESOP pool 15% reserved</a:t>
            </a:r>
            <a:endParaRPr lang="en-US" sz="1050" dirty="0"/>
          </a:p>
        </p:txBody>
      </p:sp>
      <p:sp>
        <p:nvSpPr>
          <p:cNvPr id="10" name="Shape 8"/>
          <p:cNvSpPr/>
          <p:nvPr/>
        </p:nvSpPr>
        <p:spPr>
          <a:xfrm>
            <a:off x="4709160" y="1371600"/>
            <a:ext cx="4114800" cy="338328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11" name="Shape 9"/>
          <p:cNvSpPr/>
          <p:nvPr/>
        </p:nvSpPr>
        <p:spPr>
          <a:xfrm>
            <a:off x="4709160" y="1371600"/>
            <a:ext cx="4114800" cy="54864"/>
          </a:xfrm>
          <a:prstGeom prst="rect">
            <a:avLst/>
          </a:prstGeom>
          <a:solidFill>
            <a:srgbClr val="00B4CC"/>
          </a:solidFill>
          <a:ln/>
        </p:spPr>
      </p:sp>
      <p:sp>
        <p:nvSpPr>
          <p:cNvPr id="12" name="Text 10"/>
          <p:cNvSpPr/>
          <p:nvPr/>
        </p:nvSpPr>
        <p:spPr>
          <a:xfrm>
            <a:off x="4846320" y="1481328"/>
            <a:ext cx="3840480" cy="365760"/>
          </a:xfrm>
          <a:prstGeom prst="rect">
            <a:avLst/>
          </a:prstGeom>
          <a:noFill/>
          <a:ln/>
        </p:spPr>
        <p:txBody>
          <a:bodyPr wrap="square" lIns="0" tIns="0" rIns="0" bIns="0" rtlCol="0" anchor="ctr"/>
          <a:lstStyle/>
          <a:p>
            <a:pPr indent="0" marL="0">
              <a:buNone/>
            </a:pPr>
            <a:r>
              <a:rPr lang="en-US" sz="1400" b="1" dirty="0">
                <a:solidFill>
                  <a:srgbClr val="00B4CC"/>
                </a:solidFill>
                <a:latin typeface="Calibri" pitchFamily="34" charset="0"/>
                <a:ea typeface="Calibri" pitchFamily="34" charset="-122"/>
                <a:cs typeface="Calibri" pitchFamily="34" charset="-120"/>
              </a:rPr>
              <a:t>Hiring Plan (post-bridge)</a:t>
            </a:r>
            <a:endParaRPr lang="en-US" sz="1400" dirty="0"/>
          </a:p>
        </p:txBody>
      </p:sp>
      <p:sp>
        <p:nvSpPr>
          <p:cNvPr id="13" name="Text 11"/>
          <p:cNvSpPr/>
          <p:nvPr/>
        </p:nvSpPr>
        <p:spPr>
          <a:xfrm>
            <a:off x="4846320" y="1993392"/>
            <a:ext cx="2834640" cy="2743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Senior Full-Stack Engineer</a:t>
            </a:r>
            <a:endParaRPr lang="en-US" sz="1100" dirty="0"/>
          </a:p>
        </p:txBody>
      </p:sp>
      <p:sp>
        <p:nvSpPr>
          <p:cNvPr id="14" name="Text 12"/>
          <p:cNvSpPr/>
          <p:nvPr/>
        </p:nvSpPr>
        <p:spPr>
          <a:xfrm>
            <a:off x="7680960" y="1993392"/>
            <a:ext cx="105156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Month 2–3</a:t>
            </a:r>
            <a:endParaRPr lang="en-US" sz="1000" dirty="0"/>
          </a:p>
        </p:txBody>
      </p:sp>
      <p:sp>
        <p:nvSpPr>
          <p:cNvPr id="15" name="Text 13"/>
          <p:cNvSpPr/>
          <p:nvPr/>
        </p:nvSpPr>
        <p:spPr>
          <a:xfrm>
            <a:off x="4846320" y="2505456"/>
            <a:ext cx="2834640" cy="2743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ML / AI Engineer</a:t>
            </a:r>
            <a:endParaRPr lang="en-US" sz="1100" dirty="0"/>
          </a:p>
        </p:txBody>
      </p:sp>
      <p:sp>
        <p:nvSpPr>
          <p:cNvPr id="16" name="Text 14"/>
          <p:cNvSpPr/>
          <p:nvPr/>
        </p:nvSpPr>
        <p:spPr>
          <a:xfrm>
            <a:off x="7680960" y="2505456"/>
            <a:ext cx="105156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Month 4–6</a:t>
            </a:r>
            <a:endParaRPr lang="en-US" sz="1000" dirty="0"/>
          </a:p>
        </p:txBody>
      </p:sp>
      <p:sp>
        <p:nvSpPr>
          <p:cNvPr id="17" name="Text 15"/>
          <p:cNvSpPr/>
          <p:nvPr/>
        </p:nvSpPr>
        <p:spPr>
          <a:xfrm>
            <a:off x="4846320" y="3017520"/>
            <a:ext cx="2834640" cy="2743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Arabic Content &amp; QA Lead</a:t>
            </a:r>
            <a:endParaRPr lang="en-US" sz="1100" dirty="0"/>
          </a:p>
        </p:txBody>
      </p:sp>
      <p:sp>
        <p:nvSpPr>
          <p:cNvPr id="18" name="Text 16"/>
          <p:cNvSpPr/>
          <p:nvPr/>
        </p:nvSpPr>
        <p:spPr>
          <a:xfrm>
            <a:off x="7680960" y="3017520"/>
            <a:ext cx="105156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Month 3–4</a:t>
            </a:r>
            <a:endParaRPr lang="en-US" sz="1000" dirty="0"/>
          </a:p>
        </p:txBody>
      </p:sp>
      <p:sp>
        <p:nvSpPr>
          <p:cNvPr id="19" name="Text 17"/>
          <p:cNvSpPr/>
          <p:nvPr/>
        </p:nvSpPr>
        <p:spPr>
          <a:xfrm>
            <a:off x="4846320" y="3529584"/>
            <a:ext cx="2834640" cy="2743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B2B Sales / Academy Relations</a:t>
            </a:r>
            <a:endParaRPr lang="en-US" sz="1100" dirty="0"/>
          </a:p>
        </p:txBody>
      </p:sp>
      <p:sp>
        <p:nvSpPr>
          <p:cNvPr id="20" name="Text 18"/>
          <p:cNvSpPr/>
          <p:nvPr/>
        </p:nvSpPr>
        <p:spPr>
          <a:xfrm>
            <a:off x="7680960" y="3529584"/>
            <a:ext cx="1051560" cy="27432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Month 2–3</a:t>
            </a:r>
            <a:endParaRPr lang="en-US" sz="1000" dirty="0"/>
          </a:p>
        </p:txBody>
      </p:sp>
      <p:sp>
        <p:nvSpPr>
          <p:cNvPr id="21" name="Text 19"/>
          <p:cNvSpPr/>
          <p:nvPr/>
        </p:nvSpPr>
        <p:spPr>
          <a:xfrm>
            <a:off x="4846320" y="4041648"/>
            <a:ext cx="2834640" cy="274320"/>
          </a:xfrm>
          <a:prstGeom prst="rect">
            <a:avLst/>
          </a:prstGeom>
          <a:noFill/>
          <a:ln/>
        </p:spPr>
        <p:txBody>
          <a:bodyPr wrap="square" lIns="0" tIns="0" rIns="0" bIns="0" rtlCol="0" anchor="ctr"/>
          <a:lstStyle/>
          <a:p>
            <a:pPr indent="0" marL="0">
              <a:buNone/>
            </a:pPr>
            <a:r>
              <a:rPr lang="en-US" sz="1100" dirty="0">
                <a:solidFill>
                  <a:srgbClr val="F0F4F8"/>
                </a:solidFill>
                <a:latin typeface="Calibri" pitchFamily="34" charset="0"/>
                <a:ea typeface="Calibri" pitchFamily="34" charset="-122"/>
                <a:cs typeface="Calibri" pitchFamily="34" charset="-120"/>
              </a:rPr>
              <a:t>5 FTEs by Mar 2027 · ≥40% Saudization (OKR KR 3.1)</a:t>
            </a:r>
            <a:endParaRPr lang="en-US" sz="1100" dirty="0"/>
          </a:p>
        </p:txBody>
      </p:sp>
      <p:sp>
        <p:nvSpPr>
          <p:cNvPr id="22" name="Shape 20"/>
          <p:cNvSpPr/>
          <p:nvPr/>
        </p:nvSpPr>
        <p:spPr>
          <a:xfrm>
            <a:off x="4709160" y="4315968"/>
            <a:ext cx="4114800" cy="365760"/>
          </a:xfrm>
          <a:prstGeom prst="rect">
            <a:avLst/>
          </a:prstGeom>
          <a:solidFill>
            <a:srgbClr val="1A2535"/>
          </a:solidFill>
          <a:ln w="12700">
            <a:solidFill>
              <a:srgbClr val="FFB020"/>
            </a:solidFill>
            <a:prstDash val="solid"/>
          </a:ln>
        </p:spPr>
      </p:sp>
      <p:sp>
        <p:nvSpPr>
          <p:cNvPr id="23" name="Text 21"/>
          <p:cNvSpPr/>
          <p:nvPr/>
        </p:nvSpPr>
        <p:spPr>
          <a:xfrm>
            <a:off x="4800600" y="4361688"/>
            <a:ext cx="3913632" cy="256032"/>
          </a:xfrm>
          <a:prstGeom prst="rect">
            <a:avLst/>
          </a:prstGeom>
          <a:noFill/>
          <a:ln/>
        </p:spPr>
        <p:txBody>
          <a:bodyPr wrap="square" lIns="0" tIns="0" rIns="0" bIns="0" rtlCol="0" anchor="ctr"/>
          <a:lstStyle/>
          <a:p>
            <a:pPr indent="0" marL="0">
              <a:buNone/>
            </a:pPr>
            <a:r>
              <a:rPr lang="en-US" sz="900" i="1" dirty="0">
                <a:solidFill>
                  <a:srgbClr val="FFB020"/>
                </a:solidFill>
                <a:latin typeface="Calibri" pitchFamily="34" charset="0"/>
                <a:ea typeface="Calibri" pitchFamily="34" charset="-122"/>
                <a:cs typeface="Calibri" pitchFamily="34" charset="-120"/>
              </a:rPr>
              <a:t>[PLACEHOLDER — founder to supply: co-founder / key hire profiles if applicable]</a:t>
            </a:r>
            <a:endParaRPr lang="en-US" sz="900" dirty="0"/>
          </a:p>
        </p:txBody>
      </p:sp>
      <p:sp>
        <p:nvSpPr>
          <p:cNvPr id="24" name="Text 22"/>
          <p:cNvSpPr/>
          <p:nvPr/>
        </p:nvSpPr>
        <p:spPr>
          <a:xfrm>
            <a:off x="320040" y="4828032"/>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DDQ v1.0 · Annual OKR Plan FY2026-2027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B4CC"/>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00B4CC"/>
                </a:solidFill>
                <a:latin typeface="Calibri" pitchFamily="34" charset="0"/>
                <a:ea typeface="Calibri" pitchFamily="34" charset="-122"/>
                <a:cs typeface="Calibri" pitchFamily="34" charset="-120"/>
              </a:rPr>
              <a:t>RISKS &amp; MITIGATIONS</a:t>
            </a:r>
            <a:endParaRPr lang="en-US" sz="1100" dirty="0"/>
          </a:p>
        </p:txBody>
      </p:sp>
      <p:sp>
        <p:nvSpPr>
          <p:cNvPr id="4" name="Text 2"/>
          <p:cNvSpPr/>
          <p:nvPr/>
        </p:nvSpPr>
        <p:spPr>
          <a:xfrm>
            <a:off x="320040" y="603504"/>
            <a:ext cx="8503920" cy="548640"/>
          </a:xfrm>
          <a:prstGeom prst="rect">
            <a:avLst/>
          </a:prstGeom>
          <a:noFill/>
          <a:ln/>
        </p:spPr>
        <p:txBody>
          <a:bodyPr wrap="square" lIns="0" tIns="0" rIns="0" bIns="0" rtlCol="0" anchor="ctr"/>
          <a:lstStyle/>
          <a:p>
            <a:pPr indent="0" marL="0">
              <a:buNone/>
            </a:pPr>
            <a:r>
              <a:rPr lang="en-US" sz="2200" b="1" dirty="0">
                <a:solidFill>
                  <a:srgbClr val="F0F4F8"/>
                </a:solidFill>
                <a:latin typeface="Calibri" pitchFamily="34" charset="0"/>
                <a:ea typeface="Calibri" pitchFamily="34" charset="-122"/>
                <a:cs typeface="Calibri" pitchFamily="34" charset="-120"/>
              </a:rPr>
              <a:t>Seven risks tracked · three high severity · all mitigated.</a:t>
            </a:r>
            <a:endParaRPr lang="en-US" sz="2200" dirty="0"/>
          </a:p>
        </p:txBody>
      </p:sp>
      <p:sp>
        <p:nvSpPr>
          <p:cNvPr id="5" name="Shape 3"/>
          <p:cNvSpPr/>
          <p:nvPr/>
        </p:nvSpPr>
        <p:spPr>
          <a:xfrm>
            <a:off x="256032" y="1298448"/>
            <a:ext cx="8631936" cy="310896"/>
          </a:xfrm>
          <a:prstGeom prst="rect">
            <a:avLst/>
          </a:prstGeom>
          <a:solidFill>
            <a:srgbClr val="1A2535"/>
          </a:solidFill>
          <a:ln/>
        </p:spPr>
      </p:sp>
      <p:sp>
        <p:nvSpPr>
          <p:cNvPr id="6" name="Text 4"/>
          <p:cNvSpPr/>
          <p:nvPr/>
        </p:nvSpPr>
        <p:spPr>
          <a:xfrm>
            <a:off x="274320" y="1335024"/>
            <a:ext cx="594360" cy="256032"/>
          </a:xfrm>
          <a:prstGeom prst="rect">
            <a:avLst/>
          </a:prstGeom>
          <a:noFill/>
          <a:ln/>
        </p:spPr>
        <p:txBody>
          <a:bodyPr wrap="square" lIns="0" tIns="0" rIns="0" bIns="0" rtlCol="0" anchor="ctr"/>
          <a:lstStyle/>
          <a:p>
            <a:pPr indent="0" marL="0">
              <a:buNone/>
            </a:pPr>
            <a:r>
              <a:rPr lang="en-US" sz="900" b="1" dirty="0">
                <a:solidFill>
                  <a:srgbClr val="00B4CC"/>
                </a:solidFill>
                <a:latin typeface="Calibri" pitchFamily="34" charset="0"/>
                <a:ea typeface="Calibri" pitchFamily="34" charset="-122"/>
                <a:cs typeface="Calibri" pitchFamily="34" charset="-120"/>
              </a:rPr>
              <a:t>ID</a:t>
            </a:r>
            <a:endParaRPr lang="en-US" sz="900" dirty="0"/>
          </a:p>
        </p:txBody>
      </p:sp>
      <p:sp>
        <p:nvSpPr>
          <p:cNvPr id="7" name="Text 5"/>
          <p:cNvSpPr/>
          <p:nvPr/>
        </p:nvSpPr>
        <p:spPr>
          <a:xfrm>
            <a:off x="886968" y="1335024"/>
            <a:ext cx="548640" cy="256032"/>
          </a:xfrm>
          <a:prstGeom prst="rect">
            <a:avLst/>
          </a:prstGeom>
          <a:noFill/>
          <a:ln/>
        </p:spPr>
        <p:txBody>
          <a:bodyPr wrap="square" lIns="0" tIns="0" rIns="0" bIns="0" rtlCol="0" anchor="ctr"/>
          <a:lstStyle/>
          <a:p>
            <a:pPr indent="0" marL="0">
              <a:buNone/>
            </a:pPr>
            <a:r>
              <a:rPr lang="en-US" sz="900" b="1" dirty="0">
                <a:solidFill>
                  <a:srgbClr val="00B4CC"/>
                </a:solidFill>
                <a:latin typeface="Calibri" pitchFamily="34" charset="0"/>
                <a:ea typeface="Calibri" pitchFamily="34" charset="-122"/>
                <a:cs typeface="Calibri" pitchFamily="34" charset="-120"/>
              </a:rPr>
              <a:t>Sev.</a:t>
            </a:r>
            <a:endParaRPr lang="en-US" sz="900" dirty="0"/>
          </a:p>
        </p:txBody>
      </p:sp>
      <p:sp>
        <p:nvSpPr>
          <p:cNvPr id="8" name="Text 6"/>
          <p:cNvSpPr/>
          <p:nvPr/>
        </p:nvSpPr>
        <p:spPr>
          <a:xfrm>
            <a:off x="1444752" y="1335024"/>
            <a:ext cx="3017520" cy="256032"/>
          </a:xfrm>
          <a:prstGeom prst="rect">
            <a:avLst/>
          </a:prstGeom>
          <a:noFill/>
          <a:ln/>
        </p:spPr>
        <p:txBody>
          <a:bodyPr wrap="square" lIns="0" tIns="0" rIns="0" bIns="0" rtlCol="0" anchor="ctr"/>
          <a:lstStyle/>
          <a:p>
            <a:pPr indent="0" marL="0">
              <a:buNone/>
            </a:pPr>
            <a:r>
              <a:rPr lang="en-US" sz="900" b="1" dirty="0">
                <a:solidFill>
                  <a:srgbClr val="00B4CC"/>
                </a:solidFill>
                <a:latin typeface="Calibri" pitchFamily="34" charset="0"/>
                <a:ea typeface="Calibri" pitchFamily="34" charset="-122"/>
                <a:cs typeface="Calibri" pitchFamily="34" charset="-120"/>
              </a:rPr>
              <a:t>Risk</a:t>
            </a:r>
            <a:endParaRPr lang="en-US" sz="900" dirty="0"/>
          </a:p>
        </p:txBody>
      </p:sp>
      <p:sp>
        <p:nvSpPr>
          <p:cNvPr id="9" name="Text 7"/>
          <p:cNvSpPr/>
          <p:nvPr/>
        </p:nvSpPr>
        <p:spPr>
          <a:xfrm>
            <a:off x="4480560" y="1335024"/>
            <a:ext cx="4069080" cy="256032"/>
          </a:xfrm>
          <a:prstGeom prst="rect">
            <a:avLst/>
          </a:prstGeom>
          <a:noFill/>
          <a:ln/>
        </p:spPr>
        <p:txBody>
          <a:bodyPr wrap="square" lIns="0" tIns="0" rIns="0" bIns="0" rtlCol="0" anchor="ctr"/>
          <a:lstStyle/>
          <a:p>
            <a:pPr indent="0" marL="0">
              <a:buNone/>
            </a:pPr>
            <a:r>
              <a:rPr lang="en-US" sz="900" b="1" dirty="0">
                <a:solidFill>
                  <a:srgbClr val="00B4CC"/>
                </a:solidFill>
                <a:latin typeface="Calibri" pitchFamily="34" charset="0"/>
                <a:ea typeface="Calibri" pitchFamily="34" charset="-122"/>
                <a:cs typeface="Calibri" pitchFamily="34" charset="-120"/>
              </a:rPr>
              <a:t>Mitigation</a:t>
            </a:r>
            <a:endParaRPr lang="en-US" sz="900" dirty="0"/>
          </a:p>
        </p:txBody>
      </p:sp>
      <p:sp>
        <p:nvSpPr>
          <p:cNvPr id="10" name="Text 8"/>
          <p:cNvSpPr/>
          <p:nvPr/>
        </p:nvSpPr>
        <p:spPr>
          <a:xfrm>
            <a:off x="8540496" y="1335024"/>
            <a:ext cx="402336" cy="256032"/>
          </a:xfrm>
          <a:prstGeom prst="rect">
            <a:avLst/>
          </a:prstGeom>
          <a:noFill/>
          <a:ln/>
        </p:spPr>
        <p:txBody>
          <a:bodyPr wrap="square" lIns="0" tIns="0" rIns="0" bIns="0" rtlCol="0" anchor="ctr"/>
          <a:lstStyle/>
          <a:p>
            <a:pPr indent="0" marL="0">
              <a:buNone/>
            </a:pPr>
            <a:r>
              <a:rPr lang="en-US" sz="900" b="1" dirty="0">
                <a:solidFill>
                  <a:srgbClr val="00B4CC"/>
                </a:solidFill>
                <a:latin typeface="Calibri" pitchFamily="34" charset="0"/>
                <a:ea typeface="Calibri" pitchFamily="34" charset="-122"/>
                <a:cs typeface="Calibri" pitchFamily="34" charset="-120"/>
              </a:rPr>
              <a:t>Score</a:t>
            </a:r>
            <a:endParaRPr lang="en-US" sz="900" dirty="0"/>
          </a:p>
        </p:txBody>
      </p:sp>
      <p:sp>
        <p:nvSpPr>
          <p:cNvPr id="11" name="Shape 9"/>
          <p:cNvSpPr/>
          <p:nvPr/>
        </p:nvSpPr>
        <p:spPr>
          <a:xfrm>
            <a:off x="256032" y="1645920"/>
            <a:ext cx="8631936" cy="457200"/>
          </a:xfrm>
          <a:prstGeom prst="rect">
            <a:avLst/>
          </a:prstGeom>
          <a:solidFill>
            <a:srgbClr val="101820"/>
          </a:solidFill>
          <a:ln/>
        </p:spPr>
      </p:sp>
      <p:sp>
        <p:nvSpPr>
          <p:cNvPr id="12" name="Text 10"/>
          <p:cNvSpPr/>
          <p:nvPr/>
        </p:nvSpPr>
        <p:spPr>
          <a:xfrm>
            <a:off x="274320" y="1737360"/>
            <a:ext cx="59436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RR-006</a:t>
            </a:r>
            <a:endParaRPr lang="en-US" sz="900" dirty="0"/>
          </a:p>
        </p:txBody>
      </p:sp>
      <p:sp>
        <p:nvSpPr>
          <p:cNvPr id="13" name="Text 11"/>
          <p:cNvSpPr/>
          <p:nvPr/>
        </p:nvSpPr>
        <p:spPr>
          <a:xfrm>
            <a:off x="886968" y="1737360"/>
            <a:ext cx="539496" cy="256032"/>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HIGH</a:t>
            </a:r>
            <a:endParaRPr lang="en-US" sz="900" dirty="0"/>
          </a:p>
        </p:txBody>
      </p:sp>
      <p:sp>
        <p:nvSpPr>
          <p:cNvPr id="14" name="Text 12"/>
          <p:cNvSpPr/>
          <p:nvPr/>
        </p:nvSpPr>
        <p:spPr>
          <a:xfrm>
            <a:off x="1444752" y="1700784"/>
            <a:ext cx="2999232" cy="347472"/>
          </a:xfrm>
          <a:prstGeom prst="rect">
            <a:avLst/>
          </a:prstGeom>
          <a:noFill/>
          <a:ln/>
        </p:spPr>
        <p:txBody>
          <a:bodyPr wrap="square" lIns="0" tIns="0" rIns="0" bIns="0" rtlCol="0" anchor="ctr"/>
          <a:lstStyle/>
          <a:p>
            <a:pPr indent="0" marL="0">
              <a:buNone/>
            </a:pPr>
            <a:r>
              <a:rPr lang="en-US" sz="1000" b="1" dirty="0">
                <a:solidFill>
                  <a:srgbClr val="F0F4F8"/>
                </a:solidFill>
                <a:latin typeface="Calibri" pitchFamily="34" charset="0"/>
                <a:ea typeface="Calibri" pitchFamily="34" charset="-122"/>
                <a:cs typeface="Calibri" pitchFamily="34" charset="-120"/>
              </a:rPr>
              <a:t>AI hallucination (existential brand risk)</a:t>
            </a:r>
            <a:endParaRPr lang="en-US" sz="1000" dirty="0"/>
          </a:p>
        </p:txBody>
      </p:sp>
      <p:sp>
        <p:nvSpPr>
          <p:cNvPr id="15" name="Text 13"/>
          <p:cNvSpPr/>
          <p:nvPr/>
        </p:nvSpPr>
        <p:spPr>
          <a:xfrm>
            <a:off x="4462272" y="1691640"/>
            <a:ext cx="4005072"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RAG eval ≥85% target; every answer cites source; fallback refuses on low confidence, links to GACAR text (§2.3).</a:t>
            </a:r>
            <a:endParaRPr lang="en-US" sz="850" dirty="0"/>
          </a:p>
        </p:txBody>
      </p:sp>
      <p:sp>
        <p:nvSpPr>
          <p:cNvPr id="16" name="Text 14"/>
          <p:cNvSpPr/>
          <p:nvPr/>
        </p:nvSpPr>
        <p:spPr>
          <a:xfrm>
            <a:off x="8503920" y="1737360"/>
            <a:ext cx="365760" cy="256032"/>
          </a:xfrm>
          <a:prstGeom prst="rect">
            <a:avLst/>
          </a:prstGeom>
          <a:noFill/>
          <a:ln/>
        </p:spPr>
        <p:txBody>
          <a:bodyPr wrap="square" lIns="0" tIns="0" rIns="0" bIns="0" rtlCol="0" anchor="ctr"/>
          <a:lstStyle/>
          <a:p>
            <a:pPr algn="r" indent="0" marL="0">
              <a:buNone/>
            </a:pPr>
            <a:r>
              <a:rPr lang="en-US" sz="900" dirty="0">
                <a:solidFill>
                  <a:srgbClr val="00B4CC"/>
                </a:solidFill>
                <a:latin typeface="Calibri" pitchFamily="34" charset="0"/>
                <a:ea typeface="Calibri" pitchFamily="34" charset="-122"/>
                <a:cs typeface="Calibri" pitchFamily="34" charset="-120"/>
              </a:rPr>
              <a:t>15→6</a:t>
            </a:r>
            <a:endParaRPr lang="en-US" sz="900" dirty="0"/>
          </a:p>
        </p:txBody>
      </p:sp>
      <p:sp>
        <p:nvSpPr>
          <p:cNvPr id="17" name="Shape 15"/>
          <p:cNvSpPr/>
          <p:nvPr/>
        </p:nvSpPr>
        <p:spPr>
          <a:xfrm>
            <a:off x="256032" y="2127809"/>
            <a:ext cx="8631936" cy="457200"/>
          </a:xfrm>
          <a:prstGeom prst="rect">
            <a:avLst/>
          </a:prstGeom>
          <a:solidFill>
            <a:srgbClr val="141C25"/>
          </a:solidFill>
          <a:ln/>
        </p:spPr>
      </p:sp>
      <p:sp>
        <p:nvSpPr>
          <p:cNvPr id="18" name="Text 16"/>
          <p:cNvSpPr/>
          <p:nvPr/>
        </p:nvSpPr>
        <p:spPr>
          <a:xfrm>
            <a:off x="274320" y="2219249"/>
            <a:ext cx="59436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RR-001</a:t>
            </a:r>
            <a:endParaRPr lang="en-US" sz="900" dirty="0"/>
          </a:p>
        </p:txBody>
      </p:sp>
      <p:sp>
        <p:nvSpPr>
          <p:cNvPr id="19" name="Text 17"/>
          <p:cNvSpPr/>
          <p:nvPr/>
        </p:nvSpPr>
        <p:spPr>
          <a:xfrm>
            <a:off x="886968" y="2219249"/>
            <a:ext cx="539496" cy="256032"/>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HIGH</a:t>
            </a:r>
            <a:endParaRPr lang="en-US" sz="900" dirty="0"/>
          </a:p>
        </p:txBody>
      </p:sp>
      <p:sp>
        <p:nvSpPr>
          <p:cNvPr id="20" name="Text 18"/>
          <p:cNvSpPr/>
          <p:nvPr/>
        </p:nvSpPr>
        <p:spPr>
          <a:xfrm>
            <a:off x="1444752" y="2182673"/>
            <a:ext cx="2999232" cy="347472"/>
          </a:xfrm>
          <a:prstGeom prst="rect">
            <a:avLst/>
          </a:prstGeom>
          <a:noFill/>
          <a:ln/>
        </p:spPr>
        <p:txBody>
          <a:bodyPr wrap="square" lIns="0" tIns="0" rIns="0" bIns="0" rtlCol="0" anchor="ctr"/>
          <a:lstStyle/>
          <a:p>
            <a:pPr indent="0" marL="0">
              <a:buNone/>
            </a:pPr>
            <a:r>
              <a:rPr lang="en-US" sz="1000" b="1" dirty="0">
                <a:solidFill>
                  <a:srgbClr val="F0F4F8"/>
                </a:solidFill>
                <a:latin typeface="Calibri" pitchFamily="34" charset="0"/>
                <a:ea typeface="Calibri" pitchFamily="34" charset="-122"/>
                <a:cs typeface="Calibri" pitchFamily="34" charset="-120"/>
              </a:rPr>
              <a:t>Vision 2030 aviation investment slows</a:t>
            </a:r>
            <a:endParaRPr lang="en-US" sz="1000" dirty="0"/>
          </a:p>
        </p:txBody>
      </p:sp>
      <p:sp>
        <p:nvSpPr>
          <p:cNvPr id="21" name="Text 19"/>
          <p:cNvSpPr/>
          <p:nvPr/>
        </p:nvSpPr>
        <p:spPr>
          <a:xfrm>
            <a:off x="4462272" y="2173529"/>
            <a:ext cx="4005072"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Year-1 model built on cadets already enrolled today. 5-year delay compresses growth but doesn't break unit economics.</a:t>
            </a:r>
            <a:endParaRPr lang="en-US" sz="850" dirty="0"/>
          </a:p>
        </p:txBody>
      </p:sp>
      <p:sp>
        <p:nvSpPr>
          <p:cNvPr id="22" name="Text 20"/>
          <p:cNvSpPr/>
          <p:nvPr/>
        </p:nvSpPr>
        <p:spPr>
          <a:xfrm>
            <a:off x="8503920" y="2219249"/>
            <a:ext cx="365760" cy="256032"/>
          </a:xfrm>
          <a:prstGeom prst="rect">
            <a:avLst/>
          </a:prstGeom>
          <a:noFill/>
          <a:ln/>
        </p:spPr>
        <p:txBody>
          <a:bodyPr wrap="square" lIns="0" tIns="0" rIns="0" bIns="0" rtlCol="0" anchor="ctr"/>
          <a:lstStyle/>
          <a:p>
            <a:pPr algn="r" indent="0" marL="0">
              <a:buNone/>
            </a:pPr>
            <a:r>
              <a:rPr lang="en-US" sz="900" dirty="0">
                <a:solidFill>
                  <a:srgbClr val="00B4CC"/>
                </a:solidFill>
                <a:latin typeface="Calibri" pitchFamily="34" charset="0"/>
                <a:ea typeface="Calibri" pitchFamily="34" charset="-122"/>
                <a:cs typeface="Calibri" pitchFamily="34" charset="-120"/>
              </a:rPr>
              <a:t>12→6</a:t>
            </a:r>
            <a:endParaRPr lang="en-US" sz="900" dirty="0"/>
          </a:p>
        </p:txBody>
      </p:sp>
      <p:sp>
        <p:nvSpPr>
          <p:cNvPr id="23" name="Shape 21"/>
          <p:cNvSpPr/>
          <p:nvPr/>
        </p:nvSpPr>
        <p:spPr>
          <a:xfrm>
            <a:off x="256032" y="2609698"/>
            <a:ext cx="8631936" cy="457200"/>
          </a:xfrm>
          <a:prstGeom prst="rect">
            <a:avLst/>
          </a:prstGeom>
          <a:solidFill>
            <a:srgbClr val="101820"/>
          </a:solidFill>
          <a:ln/>
        </p:spPr>
      </p:sp>
      <p:sp>
        <p:nvSpPr>
          <p:cNvPr id="24" name="Text 22"/>
          <p:cNvSpPr/>
          <p:nvPr/>
        </p:nvSpPr>
        <p:spPr>
          <a:xfrm>
            <a:off x="274320" y="2701138"/>
            <a:ext cx="59436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RR-009</a:t>
            </a:r>
            <a:endParaRPr lang="en-US" sz="900" dirty="0"/>
          </a:p>
        </p:txBody>
      </p:sp>
      <p:sp>
        <p:nvSpPr>
          <p:cNvPr id="25" name="Text 23"/>
          <p:cNvSpPr/>
          <p:nvPr/>
        </p:nvSpPr>
        <p:spPr>
          <a:xfrm>
            <a:off x="886968" y="2701138"/>
            <a:ext cx="539496" cy="256032"/>
          </a:xfrm>
          <a:prstGeom prst="rect">
            <a:avLst/>
          </a:prstGeom>
          <a:noFill/>
          <a:ln/>
        </p:spPr>
        <p:txBody>
          <a:bodyPr wrap="square" lIns="0" tIns="0" rIns="0" bIns="0"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HIGH</a:t>
            </a:r>
            <a:endParaRPr lang="en-US" sz="900" dirty="0"/>
          </a:p>
        </p:txBody>
      </p:sp>
      <p:sp>
        <p:nvSpPr>
          <p:cNvPr id="26" name="Text 24"/>
          <p:cNvSpPr/>
          <p:nvPr/>
        </p:nvSpPr>
        <p:spPr>
          <a:xfrm>
            <a:off x="1444752" y="2664562"/>
            <a:ext cx="2999232" cy="347472"/>
          </a:xfrm>
          <a:prstGeom prst="rect">
            <a:avLst/>
          </a:prstGeom>
          <a:noFill/>
          <a:ln/>
        </p:spPr>
        <p:txBody>
          <a:bodyPr wrap="square" lIns="0" tIns="0" rIns="0" bIns="0" rtlCol="0" anchor="ctr"/>
          <a:lstStyle/>
          <a:p>
            <a:pPr indent="0" marL="0">
              <a:buNone/>
            </a:pPr>
            <a:r>
              <a:rPr lang="en-US" sz="1000" b="1" dirty="0">
                <a:solidFill>
                  <a:srgbClr val="F0F4F8"/>
                </a:solidFill>
                <a:latin typeface="Calibri" pitchFamily="34" charset="0"/>
                <a:ea typeface="Calibri" pitchFamily="34" charset="-122"/>
                <a:cs typeface="Calibri" pitchFamily="34" charset="-120"/>
              </a:rPr>
              <a:t>CR registration delayed past Q3 2026</a:t>
            </a:r>
            <a:endParaRPr lang="en-US" sz="1000" dirty="0"/>
          </a:p>
        </p:txBody>
      </p:sp>
      <p:sp>
        <p:nvSpPr>
          <p:cNvPr id="27" name="Text 25"/>
          <p:cNvSpPr/>
          <p:nvPr/>
        </p:nvSpPr>
        <p:spPr>
          <a:xfrm>
            <a:off x="4462272" y="2655418"/>
            <a:ext cx="4005072"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Balady/MISA agent engaged; weekly tracking; LOI structure pre-CR; legal counsel on interim contracting.</a:t>
            </a:r>
            <a:endParaRPr lang="en-US" sz="850" dirty="0"/>
          </a:p>
        </p:txBody>
      </p:sp>
      <p:sp>
        <p:nvSpPr>
          <p:cNvPr id="28" name="Text 26"/>
          <p:cNvSpPr/>
          <p:nvPr/>
        </p:nvSpPr>
        <p:spPr>
          <a:xfrm>
            <a:off x="8503920" y="2701138"/>
            <a:ext cx="365760" cy="256032"/>
          </a:xfrm>
          <a:prstGeom prst="rect">
            <a:avLst/>
          </a:prstGeom>
          <a:noFill/>
          <a:ln/>
        </p:spPr>
        <p:txBody>
          <a:bodyPr wrap="square" lIns="0" tIns="0" rIns="0" bIns="0" rtlCol="0" anchor="ctr"/>
          <a:lstStyle/>
          <a:p>
            <a:pPr algn="r" indent="0" marL="0">
              <a:buNone/>
            </a:pPr>
            <a:r>
              <a:rPr lang="en-US" sz="900" dirty="0">
                <a:solidFill>
                  <a:srgbClr val="00B4CC"/>
                </a:solidFill>
                <a:latin typeface="Calibri" pitchFamily="34" charset="0"/>
                <a:ea typeface="Calibri" pitchFamily="34" charset="-122"/>
                <a:cs typeface="Calibri" pitchFamily="34" charset="-120"/>
              </a:rPr>
              <a:t>12→6</a:t>
            </a:r>
            <a:endParaRPr lang="en-US" sz="900" dirty="0"/>
          </a:p>
        </p:txBody>
      </p:sp>
      <p:sp>
        <p:nvSpPr>
          <p:cNvPr id="29" name="Shape 27"/>
          <p:cNvSpPr/>
          <p:nvPr/>
        </p:nvSpPr>
        <p:spPr>
          <a:xfrm>
            <a:off x="256032" y="3091586"/>
            <a:ext cx="8631936" cy="457200"/>
          </a:xfrm>
          <a:prstGeom prst="rect">
            <a:avLst/>
          </a:prstGeom>
          <a:solidFill>
            <a:srgbClr val="141C25"/>
          </a:solidFill>
          <a:ln/>
        </p:spPr>
      </p:sp>
      <p:sp>
        <p:nvSpPr>
          <p:cNvPr id="30" name="Text 28"/>
          <p:cNvSpPr/>
          <p:nvPr/>
        </p:nvSpPr>
        <p:spPr>
          <a:xfrm>
            <a:off x="274320" y="3183026"/>
            <a:ext cx="59436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RR-005</a:t>
            </a:r>
            <a:endParaRPr lang="en-US" sz="900" dirty="0"/>
          </a:p>
        </p:txBody>
      </p:sp>
      <p:sp>
        <p:nvSpPr>
          <p:cNvPr id="31" name="Text 29"/>
          <p:cNvSpPr/>
          <p:nvPr/>
        </p:nvSpPr>
        <p:spPr>
          <a:xfrm>
            <a:off x="886968" y="3183026"/>
            <a:ext cx="539496" cy="256032"/>
          </a:xfrm>
          <a:prstGeom prst="rect">
            <a:avLst/>
          </a:prstGeom>
          <a:noFill/>
          <a:ln/>
        </p:spPr>
        <p:txBody>
          <a:bodyPr wrap="square" lIns="0" tIns="0" rIns="0" bIns="0" rtlCol="0" anchor="ctr"/>
          <a:lstStyle/>
          <a:p>
            <a:pPr indent="0" marL="0">
              <a:buNone/>
            </a:pPr>
            <a:r>
              <a:rPr lang="en-US" sz="900" b="1" dirty="0">
                <a:solidFill>
                  <a:srgbClr val="FFB020"/>
                </a:solidFill>
                <a:latin typeface="Calibri" pitchFamily="34" charset="0"/>
                <a:ea typeface="Calibri" pitchFamily="34" charset="-122"/>
                <a:cs typeface="Calibri" pitchFamily="34" charset="-120"/>
              </a:rPr>
              <a:t>MED</a:t>
            </a:r>
            <a:endParaRPr lang="en-US" sz="900" dirty="0"/>
          </a:p>
        </p:txBody>
      </p:sp>
      <p:sp>
        <p:nvSpPr>
          <p:cNvPr id="32" name="Text 30"/>
          <p:cNvSpPr/>
          <p:nvPr/>
        </p:nvSpPr>
        <p:spPr>
          <a:xfrm>
            <a:off x="1444752" y="3146450"/>
            <a:ext cx="2999232" cy="347472"/>
          </a:xfrm>
          <a:prstGeom prst="rect">
            <a:avLst/>
          </a:prstGeom>
          <a:noFill/>
          <a:ln/>
        </p:spPr>
        <p:txBody>
          <a:bodyPr wrap="square" lIns="0" tIns="0" rIns="0" bIns="0" rtlCol="0" anchor="ctr"/>
          <a:lstStyle/>
          <a:p>
            <a:pPr indent="0" marL="0">
              <a:buNone/>
            </a:pPr>
            <a:r>
              <a:rPr lang="en-US" sz="1000" b="1" dirty="0">
                <a:solidFill>
                  <a:srgbClr val="F0F4F8"/>
                </a:solidFill>
                <a:latin typeface="Calibri" pitchFamily="34" charset="0"/>
                <a:ea typeface="Calibri" pitchFamily="34" charset="-122"/>
                <a:cs typeface="Calibri" pitchFamily="34" charset="-120"/>
              </a:rPr>
              <a:t>Key-person single point of failure</a:t>
            </a:r>
            <a:endParaRPr lang="en-US" sz="1000" dirty="0"/>
          </a:p>
        </p:txBody>
      </p:sp>
      <p:sp>
        <p:nvSpPr>
          <p:cNvPr id="33" name="Text 31"/>
          <p:cNvSpPr/>
          <p:nvPr/>
        </p:nvSpPr>
        <p:spPr>
          <a:xfrm>
            <a:off x="4462272" y="3137306"/>
            <a:ext cx="4005072"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Key-person insurance ≥3M SAR (pending); first hire documented; BCP/DR §4.4 in place.</a:t>
            </a:r>
            <a:endParaRPr lang="en-US" sz="850" dirty="0"/>
          </a:p>
        </p:txBody>
      </p:sp>
      <p:sp>
        <p:nvSpPr>
          <p:cNvPr id="34" name="Text 32"/>
          <p:cNvSpPr/>
          <p:nvPr/>
        </p:nvSpPr>
        <p:spPr>
          <a:xfrm>
            <a:off x="8503920" y="3183026"/>
            <a:ext cx="365760" cy="256032"/>
          </a:xfrm>
          <a:prstGeom prst="rect">
            <a:avLst/>
          </a:prstGeom>
          <a:noFill/>
          <a:ln/>
        </p:spPr>
        <p:txBody>
          <a:bodyPr wrap="square" lIns="0" tIns="0" rIns="0" bIns="0" rtlCol="0" anchor="ctr"/>
          <a:lstStyle/>
          <a:p>
            <a:pPr algn="r" indent="0" marL="0">
              <a:buNone/>
            </a:pPr>
            <a:r>
              <a:rPr lang="en-US" sz="900" dirty="0">
                <a:solidFill>
                  <a:srgbClr val="00B4CC"/>
                </a:solidFill>
                <a:latin typeface="Calibri" pitchFamily="34" charset="0"/>
                <a:ea typeface="Calibri" pitchFamily="34" charset="-122"/>
                <a:cs typeface="Calibri" pitchFamily="34" charset="-120"/>
              </a:rPr>
              <a:t>10→8</a:t>
            </a:r>
            <a:endParaRPr lang="en-US" sz="900" dirty="0"/>
          </a:p>
        </p:txBody>
      </p:sp>
      <p:sp>
        <p:nvSpPr>
          <p:cNvPr id="35" name="Shape 33"/>
          <p:cNvSpPr/>
          <p:nvPr/>
        </p:nvSpPr>
        <p:spPr>
          <a:xfrm>
            <a:off x="256032" y="3573475"/>
            <a:ext cx="8631936" cy="457200"/>
          </a:xfrm>
          <a:prstGeom prst="rect">
            <a:avLst/>
          </a:prstGeom>
          <a:solidFill>
            <a:srgbClr val="101820"/>
          </a:solidFill>
          <a:ln/>
        </p:spPr>
      </p:sp>
      <p:sp>
        <p:nvSpPr>
          <p:cNvPr id="36" name="Text 34"/>
          <p:cNvSpPr/>
          <p:nvPr/>
        </p:nvSpPr>
        <p:spPr>
          <a:xfrm>
            <a:off x="274320" y="3664915"/>
            <a:ext cx="59436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RR-002</a:t>
            </a:r>
            <a:endParaRPr lang="en-US" sz="900" dirty="0"/>
          </a:p>
        </p:txBody>
      </p:sp>
      <p:sp>
        <p:nvSpPr>
          <p:cNvPr id="37" name="Text 35"/>
          <p:cNvSpPr/>
          <p:nvPr/>
        </p:nvSpPr>
        <p:spPr>
          <a:xfrm>
            <a:off x="886968" y="3664915"/>
            <a:ext cx="539496" cy="256032"/>
          </a:xfrm>
          <a:prstGeom prst="rect">
            <a:avLst/>
          </a:prstGeom>
          <a:noFill/>
          <a:ln/>
        </p:spPr>
        <p:txBody>
          <a:bodyPr wrap="square" lIns="0" tIns="0" rIns="0" bIns="0" rtlCol="0" anchor="ctr"/>
          <a:lstStyle/>
          <a:p>
            <a:pPr indent="0" marL="0">
              <a:buNone/>
            </a:pPr>
            <a:r>
              <a:rPr lang="en-US" sz="900" b="1" dirty="0">
                <a:solidFill>
                  <a:srgbClr val="FFB020"/>
                </a:solidFill>
                <a:latin typeface="Calibri" pitchFamily="34" charset="0"/>
                <a:ea typeface="Calibri" pitchFamily="34" charset="-122"/>
                <a:cs typeface="Calibri" pitchFamily="34" charset="-120"/>
              </a:rPr>
              <a:t>MED</a:t>
            </a:r>
            <a:endParaRPr lang="en-US" sz="900" dirty="0"/>
          </a:p>
        </p:txBody>
      </p:sp>
      <p:sp>
        <p:nvSpPr>
          <p:cNvPr id="38" name="Text 36"/>
          <p:cNvSpPr/>
          <p:nvPr/>
        </p:nvSpPr>
        <p:spPr>
          <a:xfrm>
            <a:off x="1444752" y="3628339"/>
            <a:ext cx="2999232" cy="347472"/>
          </a:xfrm>
          <a:prstGeom prst="rect">
            <a:avLst/>
          </a:prstGeom>
          <a:noFill/>
          <a:ln/>
        </p:spPr>
        <p:txBody>
          <a:bodyPr wrap="square" lIns="0" tIns="0" rIns="0" bIns="0" rtlCol="0" anchor="ctr"/>
          <a:lstStyle/>
          <a:p>
            <a:pPr indent="0" marL="0">
              <a:buNone/>
            </a:pPr>
            <a:r>
              <a:rPr lang="en-US" sz="1000" b="1" dirty="0">
                <a:solidFill>
                  <a:srgbClr val="F0F4F8"/>
                </a:solidFill>
                <a:latin typeface="Calibri" pitchFamily="34" charset="0"/>
                <a:ea typeface="Calibri" pitchFamily="34" charset="-122"/>
                <a:cs typeface="Calibri" pitchFamily="34" charset="-120"/>
              </a:rPr>
              <a:t>GACA non-objection not obtained</a:t>
            </a:r>
            <a:endParaRPr lang="en-US" sz="1000" dirty="0"/>
          </a:p>
        </p:txBody>
      </p:sp>
      <p:sp>
        <p:nvSpPr>
          <p:cNvPr id="39" name="Text 37"/>
          <p:cNvSpPr/>
          <p:nvPr/>
        </p:nvSpPr>
        <p:spPr>
          <a:xfrm>
            <a:off x="4462272" y="3619195"/>
            <a:ext cx="4005072"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All citations link to official sources; prominent 'study aid only' disclaimer on every page; never 'GACA-approved'.</a:t>
            </a:r>
            <a:endParaRPr lang="en-US" sz="850" dirty="0"/>
          </a:p>
        </p:txBody>
      </p:sp>
      <p:sp>
        <p:nvSpPr>
          <p:cNvPr id="40" name="Text 38"/>
          <p:cNvSpPr/>
          <p:nvPr/>
        </p:nvSpPr>
        <p:spPr>
          <a:xfrm>
            <a:off x="8503920" y="3664915"/>
            <a:ext cx="365760" cy="256032"/>
          </a:xfrm>
          <a:prstGeom prst="rect">
            <a:avLst/>
          </a:prstGeom>
          <a:noFill/>
          <a:ln/>
        </p:spPr>
        <p:txBody>
          <a:bodyPr wrap="square" lIns="0" tIns="0" rIns="0" bIns="0" rtlCol="0" anchor="ctr"/>
          <a:lstStyle/>
          <a:p>
            <a:pPr algn="r" indent="0" marL="0">
              <a:buNone/>
            </a:pPr>
            <a:r>
              <a:rPr lang="en-US" sz="900" dirty="0">
                <a:solidFill>
                  <a:srgbClr val="00B4CC"/>
                </a:solidFill>
                <a:latin typeface="Calibri" pitchFamily="34" charset="0"/>
                <a:ea typeface="Calibri" pitchFamily="34" charset="-122"/>
                <a:cs typeface="Calibri" pitchFamily="34" charset="-120"/>
              </a:rPr>
              <a:t>10→8</a:t>
            </a:r>
            <a:endParaRPr lang="en-US" sz="900" dirty="0"/>
          </a:p>
        </p:txBody>
      </p:sp>
      <p:sp>
        <p:nvSpPr>
          <p:cNvPr id="41" name="Shape 39"/>
          <p:cNvSpPr/>
          <p:nvPr/>
        </p:nvSpPr>
        <p:spPr>
          <a:xfrm>
            <a:off x="256032" y="4055364"/>
            <a:ext cx="8631936" cy="457200"/>
          </a:xfrm>
          <a:prstGeom prst="rect">
            <a:avLst/>
          </a:prstGeom>
          <a:solidFill>
            <a:srgbClr val="141C25"/>
          </a:solidFill>
          <a:ln/>
        </p:spPr>
      </p:sp>
      <p:sp>
        <p:nvSpPr>
          <p:cNvPr id="42" name="Text 40"/>
          <p:cNvSpPr/>
          <p:nvPr/>
        </p:nvSpPr>
        <p:spPr>
          <a:xfrm>
            <a:off x="274320" y="4146804"/>
            <a:ext cx="59436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RR-012</a:t>
            </a:r>
            <a:endParaRPr lang="en-US" sz="900" dirty="0"/>
          </a:p>
        </p:txBody>
      </p:sp>
      <p:sp>
        <p:nvSpPr>
          <p:cNvPr id="43" name="Text 41"/>
          <p:cNvSpPr/>
          <p:nvPr/>
        </p:nvSpPr>
        <p:spPr>
          <a:xfrm>
            <a:off x="886968" y="4146804"/>
            <a:ext cx="539496" cy="256032"/>
          </a:xfrm>
          <a:prstGeom prst="rect">
            <a:avLst/>
          </a:prstGeom>
          <a:noFill/>
          <a:ln/>
        </p:spPr>
        <p:txBody>
          <a:bodyPr wrap="square" lIns="0" tIns="0" rIns="0" bIns="0" rtlCol="0" anchor="ctr"/>
          <a:lstStyle/>
          <a:p>
            <a:pPr indent="0" marL="0">
              <a:buNone/>
            </a:pPr>
            <a:r>
              <a:rPr lang="en-US" sz="900" b="1" dirty="0">
                <a:solidFill>
                  <a:srgbClr val="FFB020"/>
                </a:solidFill>
                <a:latin typeface="Calibri" pitchFamily="34" charset="0"/>
                <a:ea typeface="Calibri" pitchFamily="34" charset="-122"/>
                <a:cs typeface="Calibri" pitchFamily="34" charset="-120"/>
              </a:rPr>
              <a:t>MED</a:t>
            </a:r>
            <a:endParaRPr lang="en-US" sz="900" dirty="0"/>
          </a:p>
        </p:txBody>
      </p:sp>
      <p:sp>
        <p:nvSpPr>
          <p:cNvPr id="44" name="Text 42"/>
          <p:cNvSpPr/>
          <p:nvPr/>
        </p:nvSpPr>
        <p:spPr>
          <a:xfrm>
            <a:off x="1444752" y="4110228"/>
            <a:ext cx="2999232" cy="347472"/>
          </a:xfrm>
          <a:prstGeom prst="rect">
            <a:avLst/>
          </a:prstGeom>
          <a:noFill/>
          <a:ln/>
        </p:spPr>
        <p:txBody>
          <a:bodyPr wrap="square" lIns="0" tIns="0" rIns="0" bIns="0" rtlCol="0" anchor="ctr"/>
          <a:lstStyle/>
          <a:p>
            <a:pPr indent="0" marL="0">
              <a:buNone/>
            </a:pPr>
            <a:r>
              <a:rPr lang="en-US" sz="1000" b="1" dirty="0">
                <a:solidFill>
                  <a:srgbClr val="F0F4F8"/>
                </a:solidFill>
                <a:latin typeface="Calibri" pitchFamily="34" charset="0"/>
                <a:ea typeface="Calibri" pitchFamily="34" charset="-122"/>
                <a:cs typeface="Calibri" pitchFamily="34" charset="-120"/>
              </a:rPr>
              <a:t>Bridge round (3M SAR) not closed</a:t>
            </a:r>
            <a:endParaRPr lang="en-US" sz="1000" dirty="0"/>
          </a:p>
        </p:txBody>
      </p:sp>
      <p:sp>
        <p:nvSpPr>
          <p:cNvPr id="45" name="Text 43"/>
          <p:cNvSpPr/>
          <p:nvPr/>
        </p:nvSpPr>
        <p:spPr>
          <a:xfrm>
            <a:off x="4462272" y="4101084"/>
            <a:ext cx="4005072"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SAFE/convertible structure; 18-month runway target at 40K/mo; founder personal capital backstop.</a:t>
            </a:r>
            <a:endParaRPr lang="en-US" sz="850" dirty="0"/>
          </a:p>
        </p:txBody>
      </p:sp>
      <p:sp>
        <p:nvSpPr>
          <p:cNvPr id="46" name="Text 44"/>
          <p:cNvSpPr/>
          <p:nvPr/>
        </p:nvSpPr>
        <p:spPr>
          <a:xfrm>
            <a:off x="8503920" y="4146804"/>
            <a:ext cx="365760" cy="256032"/>
          </a:xfrm>
          <a:prstGeom prst="rect">
            <a:avLst/>
          </a:prstGeom>
          <a:noFill/>
          <a:ln/>
        </p:spPr>
        <p:txBody>
          <a:bodyPr wrap="square" lIns="0" tIns="0" rIns="0" bIns="0" rtlCol="0" anchor="ctr"/>
          <a:lstStyle/>
          <a:p>
            <a:pPr algn="r" indent="0" marL="0">
              <a:buNone/>
            </a:pPr>
            <a:r>
              <a:rPr lang="en-US" sz="900" dirty="0">
                <a:solidFill>
                  <a:srgbClr val="00B4CC"/>
                </a:solidFill>
                <a:latin typeface="Calibri" pitchFamily="34" charset="0"/>
                <a:ea typeface="Calibri" pitchFamily="34" charset="-122"/>
                <a:cs typeface="Calibri" pitchFamily="34" charset="-120"/>
              </a:rPr>
              <a:t>10→8</a:t>
            </a:r>
            <a:endParaRPr lang="en-US" sz="900" dirty="0"/>
          </a:p>
        </p:txBody>
      </p:sp>
      <p:sp>
        <p:nvSpPr>
          <p:cNvPr id="47" name="Shape 45"/>
          <p:cNvSpPr/>
          <p:nvPr/>
        </p:nvSpPr>
        <p:spPr>
          <a:xfrm>
            <a:off x="256032" y="4537253"/>
            <a:ext cx="8631936" cy="457200"/>
          </a:xfrm>
          <a:prstGeom prst="rect">
            <a:avLst/>
          </a:prstGeom>
          <a:solidFill>
            <a:srgbClr val="101820"/>
          </a:solidFill>
          <a:ln/>
        </p:spPr>
      </p:sp>
      <p:sp>
        <p:nvSpPr>
          <p:cNvPr id="48" name="Text 46"/>
          <p:cNvSpPr/>
          <p:nvPr/>
        </p:nvSpPr>
        <p:spPr>
          <a:xfrm>
            <a:off x="274320" y="4628693"/>
            <a:ext cx="59436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RR-007</a:t>
            </a:r>
            <a:endParaRPr lang="en-US" sz="900" dirty="0"/>
          </a:p>
        </p:txBody>
      </p:sp>
      <p:sp>
        <p:nvSpPr>
          <p:cNvPr id="49" name="Text 47"/>
          <p:cNvSpPr/>
          <p:nvPr/>
        </p:nvSpPr>
        <p:spPr>
          <a:xfrm>
            <a:off x="886968" y="4628693"/>
            <a:ext cx="539496" cy="256032"/>
          </a:xfrm>
          <a:prstGeom prst="rect">
            <a:avLst/>
          </a:prstGeom>
          <a:noFill/>
          <a:ln/>
        </p:spPr>
        <p:txBody>
          <a:bodyPr wrap="square" lIns="0" tIns="0" rIns="0" bIns="0" rtlCol="0" anchor="ctr"/>
          <a:lstStyle/>
          <a:p>
            <a:pPr indent="0" marL="0">
              <a:buNone/>
            </a:pPr>
            <a:r>
              <a:rPr lang="en-US" sz="900" b="1" dirty="0">
                <a:solidFill>
                  <a:srgbClr val="FFB020"/>
                </a:solidFill>
                <a:latin typeface="Calibri" pitchFamily="34" charset="0"/>
                <a:ea typeface="Calibri" pitchFamily="34" charset="-122"/>
                <a:cs typeface="Calibri" pitchFamily="34" charset="-120"/>
              </a:rPr>
              <a:t>MED</a:t>
            </a:r>
            <a:endParaRPr lang="en-US" sz="900" dirty="0"/>
          </a:p>
        </p:txBody>
      </p:sp>
      <p:sp>
        <p:nvSpPr>
          <p:cNvPr id="50" name="Text 48"/>
          <p:cNvSpPr/>
          <p:nvPr/>
        </p:nvSpPr>
        <p:spPr>
          <a:xfrm>
            <a:off x="1444752" y="4592117"/>
            <a:ext cx="2999232" cy="347472"/>
          </a:xfrm>
          <a:prstGeom prst="rect">
            <a:avLst/>
          </a:prstGeom>
          <a:noFill/>
          <a:ln/>
        </p:spPr>
        <p:txBody>
          <a:bodyPr wrap="square" lIns="0" tIns="0" rIns="0" bIns="0" rtlCol="0" anchor="ctr"/>
          <a:lstStyle/>
          <a:p>
            <a:pPr indent="0" marL="0">
              <a:buNone/>
            </a:pPr>
            <a:r>
              <a:rPr lang="en-US" sz="1000" b="1" dirty="0">
                <a:solidFill>
                  <a:srgbClr val="F0F4F8"/>
                </a:solidFill>
                <a:latin typeface="Calibri" pitchFamily="34" charset="0"/>
                <a:ea typeface="Calibri" pitchFamily="34" charset="-122"/>
                <a:cs typeface="Calibri" pitchFamily="34" charset="-120"/>
              </a:rPr>
              <a:t>Funded foreign EdTech entrant (Jeppesen)</a:t>
            </a:r>
            <a:endParaRPr lang="en-US" sz="1000" dirty="0"/>
          </a:p>
        </p:txBody>
      </p:sp>
      <p:sp>
        <p:nvSpPr>
          <p:cNvPr id="51" name="Text 49"/>
          <p:cNvSpPr/>
          <p:nvPr/>
        </p:nvSpPr>
        <p:spPr>
          <a:xfrm>
            <a:off x="4462272" y="4582973"/>
            <a:ext cx="4005072" cy="38404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Deep corpus moat; academy multi-year contracts; Arabic-first; in-Kingdom data residency barrier.</a:t>
            </a:r>
            <a:endParaRPr lang="en-US" sz="850" dirty="0"/>
          </a:p>
        </p:txBody>
      </p:sp>
      <p:sp>
        <p:nvSpPr>
          <p:cNvPr id="52" name="Text 50"/>
          <p:cNvSpPr/>
          <p:nvPr/>
        </p:nvSpPr>
        <p:spPr>
          <a:xfrm>
            <a:off x="8503920" y="4628693"/>
            <a:ext cx="365760" cy="256032"/>
          </a:xfrm>
          <a:prstGeom prst="rect">
            <a:avLst/>
          </a:prstGeom>
          <a:noFill/>
          <a:ln/>
        </p:spPr>
        <p:txBody>
          <a:bodyPr wrap="square" lIns="0" tIns="0" rIns="0" bIns="0" rtlCol="0" anchor="ctr"/>
          <a:lstStyle/>
          <a:p>
            <a:pPr algn="r" indent="0" marL="0">
              <a:buNone/>
            </a:pPr>
            <a:r>
              <a:rPr lang="en-US" sz="900" dirty="0">
                <a:solidFill>
                  <a:srgbClr val="00B4CC"/>
                </a:solidFill>
                <a:latin typeface="Calibri" pitchFamily="34" charset="0"/>
                <a:ea typeface="Calibri" pitchFamily="34" charset="-122"/>
                <a:cs typeface="Calibri" pitchFamily="34" charset="-120"/>
              </a:rPr>
              <a:t>8→6</a:t>
            </a:r>
            <a:endParaRPr lang="en-US" sz="900" dirty="0"/>
          </a:p>
        </p:txBody>
      </p:sp>
      <p:sp>
        <p:nvSpPr>
          <p:cNvPr id="53" name="Text 51"/>
          <p:cNvSpPr/>
          <p:nvPr/>
        </p:nvSpPr>
        <p:spPr>
          <a:xfrm>
            <a:off x="320040" y="4846320"/>
            <a:ext cx="8503920" cy="182880"/>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Risk Register.xlsx (May 2026) · Action Plan §2 · Score = Inherent LxI → Residual LxI</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4"/>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FB020"/>
          </a:solidFill>
          <a:ln/>
        </p:spPr>
      </p:sp>
      <p:sp>
        <p:nvSpPr>
          <p:cNvPr id="3" name="Text 1"/>
          <p:cNvSpPr/>
          <p:nvPr/>
        </p:nvSpPr>
        <p:spPr>
          <a:xfrm>
            <a:off x="320040" y="256032"/>
            <a:ext cx="8503920" cy="365760"/>
          </a:xfrm>
          <a:prstGeom prst="rect">
            <a:avLst/>
          </a:prstGeom>
          <a:noFill/>
          <a:ln/>
        </p:spPr>
        <p:txBody>
          <a:bodyPr wrap="square" lIns="0" tIns="0" rIns="0" bIns="0" rtlCol="0" anchor="ctr"/>
          <a:lstStyle/>
          <a:p>
            <a:pPr indent="0" marL="0">
              <a:buNone/>
            </a:pPr>
            <a:r>
              <a:rPr lang="en-US" sz="1100" b="1" spc="400" kern="0" dirty="0">
                <a:solidFill>
                  <a:srgbClr val="FFB020"/>
                </a:solidFill>
                <a:latin typeface="Calibri" pitchFamily="34" charset="0"/>
                <a:ea typeface="Calibri" pitchFamily="34" charset="-122"/>
                <a:cs typeface="Calibri" pitchFamily="34" charset="-120"/>
              </a:rPr>
              <a:t>THE ASK</a:t>
            </a:r>
            <a:endParaRPr lang="en-US" sz="1100" dirty="0"/>
          </a:p>
        </p:txBody>
      </p:sp>
      <p:sp>
        <p:nvSpPr>
          <p:cNvPr id="4" name="Text 2"/>
          <p:cNvSpPr/>
          <p:nvPr/>
        </p:nvSpPr>
        <p:spPr>
          <a:xfrm>
            <a:off x="320040" y="603504"/>
            <a:ext cx="8503920" cy="594360"/>
          </a:xfrm>
          <a:prstGeom prst="rect">
            <a:avLst/>
          </a:prstGeom>
          <a:noFill/>
          <a:ln/>
        </p:spPr>
        <p:txBody>
          <a:bodyPr wrap="square" lIns="0" tIns="0" rIns="0" bIns="0" rtlCol="0" anchor="ctr"/>
          <a:lstStyle/>
          <a:p>
            <a:pPr indent="0" marL="0">
              <a:buNone/>
            </a:pPr>
            <a:r>
              <a:rPr lang="en-US" sz="2400" b="1" dirty="0">
                <a:solidFill>
                  <a:srgbClr val="F0F4F8"/>
                </a:solidFill>
                <a:latin typeface="Calibri" pitchFamily="34" charset="0"/>
                <a:ea typeface="Calibri" pitchFamily="34" charset="-122"/>
                <a:cs typeface="Calibri" pitchFamily="34" charset="-120"/>
              </a:rPr>
              <a:t>Bridge Round — 3,000,000 SAR · SAFE · 25M SAR cap.</a:t>
            </a:r>
            <a:endParaRPr lang="en-US" sz="2400" dirty="0"/>
          </a:p>
        </p:txBody>
      </p:sp>
      <p:sp>
        <p:nvSpPr>
          <p:cNvPr id="5" name="Shape 3"/>
          <p:cNvSpPr/>
          <p:nvPr/>
        </p:nvSpPr>
        <p:spPr>
          <a:xfrm>
            <a:off x="320040" y="1325880"/>
            <a:ext cx="4114800" cy="347472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6" name="Shape 4"/>
          <p:cNvSpPr/>
          <p:nvPr/>
        </p:nvSpPr>
        <p:spPr>
          <a:xfrm>
            <a:off x="320040" y="1325880"/>
            <a:ext cx="4114800" cy="54864"/>
          </a:xfrm>
          <a:prstGeom prst="rect">
            <a:avLst/>
          </a:prstGeom>
          <a:solidFill>
            <a:srgbClr val="FFB020"/>
          </a:solidFill>
          <a:ln/>
        </p:spPr>
      </p:sp>
      <p:sp>
        <p:nvSpPr>
          <p:cNvPr id="7" name="Text 5"/>
          <p:cNvSpPr/>
          <p:nvPr/>
        </p:nvSpPr>
        <p:spPr>
          <a:xfrm>
            <a:off x="457200" y="1426464"/>
            <a:ext cx="3840480" cy="365760"/>
          </a:xfrm>
          <a:prstGeom prst="rect">
            <a:avLst/>
          </a:prstGeom>
          <a:noFill/>
          <a:ln/>
        </p:spPr>
        <p:txBody>
          <a:bodyPr wrap="square" lIns="0" tIns="0" rIns="0" bIns="0" rtlCol="0" anchor="ctr"/>
          <a:lstStyle/>
          <a:p>
            <a:pPr indent="0" marL="0">
              <a:buNone/>
            </a:pPr>
            <a:r>
              <a:rPr lang="en-US" sz="1400" b="1" dirty="0">
                <a:solidFill>
                  <a:srgbClr val="FFB020"/>
                </a:solidFill>
                <a:latin typeface="Calibri" pitchFamily="34" charset="0"/>
                <a:ea typeface="Calibri" pitchFamily="34" charset="-122"/>
                <a:cs typeface="Calibri" pitchFamily="34" charset="-120"/>
              </a:rPr>
              <a:t>Round Structure</a:t>
            </a:r>
            <a:endParaRPr lang="en-US" sz="1400" dirty="0"/>
          </a:p>
        </p:txBody>
      </p:sp>
      <p:sp>
        <p:nvSpPr>
          <p:cNvPr id="8" name="Text 6"/>
          <p:cNvSpPr/>
          <p:nvPr/>
        </p:nvSpPr>
        <p:spPr>
          <a:xfrm>
            <a:off x="457200" y="1901952"/>
            <a:ext cx="22860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Target raise</a:t>
            </a:r>
            <a:endParaRPr lang="en-US" sz="1050" dirty="0"/>
          </a:p>
        </p:txBody>
      </p:sp>
      <p:sp>
        <p:nvSpPr>
          <p:cNvPr id="9" name="Text 7"/>
          <p:cNvSpPr/>
          <p:nvPr/>
        </p:nvSpPr>
        <p:spPr>
          <a:xfrm>
            <a:off x="2788920" y="1901952"/>
            <a:ext cx="1536192" cy="274320"/>
          </a:xfrm>
          <a:prstGeom prst="rect">
            <a:avLst/>
          </a:prstGeom>
          <a:noFill/>
          <a:ln/>
        </p:spPr>
        <p:txBody>
          <a:bodyPr wrap="square" lIns="0" tIns="0" rIns="0" bIns="0" rtlCol="0" anchor="ctr"/>
          <a:lstStyle/>
          <a:p>
            <a:pPr algn="r" indent="0" marL="0">
              <a:buNone/>
            </a:pPr>
            <a:r>
              <a:rPr lang="en-US" sz="1100" b="1" dirty="0">
                <a:solidFill>
                  <a:srgbClr val="F0F4F8"/>
                </a:solidFill>
                <a:latin typeface="Calibri" pitchFamily="34" charset="0"/>
                <a:ea typeface="Calibri" pitchFamily="34" charset="-122"/>
                <a:cs typeface="Calibri" pitchFamily="34" charset="-120"/>
              </a:rPr>
              <a:t>3,000,000 SAR</a:t>
            </a:r>
            <a:endParaRPr lang="en-US" sz="1100" dirty="0"/>
          </a:p>
        </p:txBody>
      </p:sp>
      <p:sp>
        <p:nvSpPr>
          <p:cNvPr id="10" name="Text 8"/>
          <p:cNvSpPr/>
          <p:nvPr/>
        </p:nvSpPr>
        <p:spPr>
          <a:xfrm>
            <a:off x="457200" y="2359152"/>
            <a:ext cx="22860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Instrument</a:t>
            </a:r>
            <a:endParaRPr lang="en-US" sz="1050" dirty="0"/>
          </a:p>
        </p:txBody>
      </p:sp>
      <p:sp>
        <p:nvSpPr>
          <p:cNvPr id="11" name="Text 9"/>
          <p:cNvSpPr/>
          <p:nvPr/>
        </p:nvSpPr>
        <p:spPr>
          <a:xfrm>
            <a:off x="2788920" y="2359152"/>
            <a:ext cx="1536192" cy="274320"/>
          </a:xfrm>
          <a:prstGeom prst="rect">
            <a:avLst/>
          </a:prstGeom>
          <a:noFill/>
          <a:ln/>
        </p:spPr>
        <p:txBody>
          <a:bodyPr wrap="square" lIns="0" tIns="0" rIns="0" bIns="0" rtlCol="0" anchor="ctr"/>
          <a:lstStyle/>
          <a:p>
            <a:pPr algn="r" indent="0" marL="0">
              <a:buNone/>
            </a:pPr>
            <a:r>
              <a:rPr lang="en-US" sz="1100" b="1" dirty="0">
                <a:solidFill>
                  <a:srgbClr val="F0F4F8"/>
                </a:solidFill>
                <a:latin typeface="Calibri" pitchFamily="34" charset="0"/>
                <a:ea typeface="Calibri" pitchFamily="34" charset="-122"/>
                <a:cs typeface="Calibri" pitchFamily="34" charset="-120"/>
              </a:rPr>
              <a:t>SAFE / Conv. Note</a:t>
            </a:r>
            <a:endParaRPr lang="en-US" sz="1100" dirty="0"/>
          </a:p>
        </p:txBody>
      </p:sp>
      <p:sp>
        <p:nvSpPr>
          <p:cNvPr id="12" name="Text 10"/>
          <p:cNvSpPr/>
          <p:nvPr/>
        </p:nvSpPr>
        <p:spPr>
          <a:xfrm>
            <a:off x="457200" y="2816352"/>
            <a:ext cx="22860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Valuation cap</a:t>
            </a:r>
            <a:endParaRPr lang="en-US" sz="1050" dirty="0"/>
          </a:p>
        </p:txBody>
      </p:sp>
      <p:sp>
        <p:nvSpPr>
          <p:cNvPr id="13" name="Text 11"/>
          <p:cNvSpPr/>
          <p:nvPr/>
        </p:nvSpPr>
        <p:spPr>
          <a:xfrm>
            <a:off x="2788920" y="2816352"/>
            <a:ext cx="1536192" cy="274320"/>
          </a:xfrm>
          <a:prstGeom prst="rect">
            <a:avLst/>
          </a:prstGeom>
          <a:noFill/>
          <a:ln/>
        </p:spPr>
        <p:txBody>
          <a:bodyPr wrap="square" lIns="0" tIns="0" rIns="0" bIns="0" rtlCol="0" anchor="ctr"/>
          <a:lstStyle/>
          <a:p>
            <a:pPr algn="r" indent="0" marL="0">
              <a:buNone/>
            </a:pPr>
            <a:r>
              <a:rPr lang="en-US" sz="1100" b="1" dirty="0">
                <a:solidFill>
                  <a:srgbClr val="F0F4F8"/>
                </a:solidFill>
                <a:latin typeface="Calibri" pitchFamily="34" charset="0"/>
                <a:ea typeface="Calibri" pitchFamily="34" charset="-122"/>
                <a:cs typeface="Calibri" pitchFamily="34" charset="-120"/>
              </a:rPr>
              <a:t>25,000,000 SAR</a:t>
            </a:r>
            <a:endParaRPr lang="en-US" sz="1100" dirty="0"/>
          </a:p>
        </p:txBody>
      </p:sp>
      <p:sp>
        <p:nvSpPr>
          <p:cNvPr id="14" name="Text 12"/>
          <p:cNvSpPr/>
          <p:nvPr/>
        </p:nvSpPr>
        <p:spPr>
          <a:xfrm>
            <a:off x="457200" y="3273552"/>
            <a:ext cx="22860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Runway at 40K/mo</a:t>
            </a:r>
            <a:endParaRPr lang="en-US" sz="1050" dirty="0"/>
          </a:p>
        </p:txBody>
      </p:sp>
      <p:sp>
        <p:nvSpPr>
          <p:cNvPr id="15" name="Text 13"/>
          <p:cNvSpPr/>
          <p:nvPr/>
        </p:nvSpPr>
        <p:spPr>
          <a:xfrm>
            <a:off x="2788920" y="3273552"/>
            <a:ext cx="1536192" cy="274320"/>
          </a:xfrm>
          <a:prstGeom prst="rect">
            <a:avLst/>
          </a:prstGeom>
          <a:noFill/>
          <a:ln/>
        </p:spPr>
        <p:txBody>
          <a:bodyPr wrap="square" lIns="0" tIns="0" rIns="0" bIns="0" rtlCol="0" anchor="ctr"/>
          <a:lstStyle/>
          <a:p>
            <a:pPr algn="r" indent="0" marL="0">
              <a:buNone/>
            </a:pPr>
            <a:r>
              <a:rPr lang="en-US" sz="1100" b="1" dirty="0">
                <a:solidFill>
                  <a:srgbClr val="F0F4F8"/>
                </a:solidFill>
                <a:latin typeface="Calibri" pitchFamily="34" charset="0"/>
                <a:ea typeface="Calibri" pitchFamily="34" charset="-122"/>
                <a:cs typeface="Calibri" pitchFamily="34" charset="-120"/>
              </a:rPr>
              <a:t>18 months</a:t>
            </a:r>
            <a:endParaRPr lang="en-US" sz="1100" dirty="0"/>
          </a:p>
        </p:txBody>
      </p:sp>
      <p:sp>
        <p:nvSpPr>
          <p:cNvPr id="16" name="Text 14"/>
          <p:cNvSpPr/>
          <p:nvPr/>
        </p:nvSpPr>
        <p:spPr>
          <a:xfrm>
            <a:off x="457200" y="3730752"/>
            <a:ext cx="22860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Post-bridge (FD)</a:t>
            </a:r>
            <a:endParaRPr lang="en-US" sz="1050" dirty="0"/>
          </a:p>
        </p:txBody>
      </p:sp>
      <p:sp>
        <p:nvSpPr>
          <p:cNvPr id="17" name="Text 15"/>
          <p:cNvSpPr/>
          <p:nvPr/>
        </p:nvSpPr>
        <p:spPr>
          <a:xfrm>
            <a:off x="2788920" y="3730752"/>
            <a:ext cx="1536192" cy="274320"/>
          </a:xfrm>
          <a:prstGeom prst="rect">
            <a:avLst/>
          </a:prstGeom>
          <a:noFill/>
          <a:ln/>
        </p:spPr>
        <p:txBody>
          <a:bodyPr wrap="square" lIns="0" tIns="0" rIns="0" bIns="0" rtlCol="0" anchor="ctr"/>
          <a:lstStyle/>
          <a:p>
            <a:pPr algn="r" indent="0" marL="0">
              <a:buNone/>
            </a:pPr>
            <a:r>
              <a:rPr lang="en-US" sz="1100" b="1" dirty="0">
                <a:solidFill>
                  <a:srgbClr val="F0F4F8"/>
                </a:solidFill>
                <a:latin typeface="Calibri" pitchFamily="34" charset="0"/>
                <a:ea typeface="Calibri" pitchFamily="34" charset="-122"/>
                <a:cs typeface="Calibri" pitchFamily="34" charset="-120"/>
              </a:rPr>
              <a:t>Founder ~88% · SAFE pool ~12%</a:t>
            </a:r>
            <a:endParaRPr lang="en-US" sz="1100" dirty="0"/>
          </a:p>
        </p:txBody>
      </p:sp>
      <p:sp>
        <p:nvSpPr>
          <p:cNvPr id="18" name="Text 16"/>
          <p:cNvSpPr/>
          <p:nvPr/>
        </p:nvSpPr>
        <p:spPr>
          <a:xfrm>
            <a:off x="457200" y="4187952"/>
            <a:ext cx="22860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Series A target</a:t>
            </a:r>
            <a:endParaRPr lang="en-US" sz="1050" dirty="0"/>
          </a:p>
        </p:txBody>
      </p:sp>
      <p:sp>
        <p:nvSpPr>
          <p:cNvPr id="19" name="Text 17"/>
          <p:cNvSpPr/>
          <p:nvPr/>
        </p:nvSpPr>
        <p:spPr>
          <a:xfrm>
            <a:off x="2788920" y="4187952"/>
            <a:ext cx="1536192" cy="274320"/>
          </a:xfrm>
          <a:prstGeom prst="rect">
            <a:avLst/>
          </a:prstGeom>
          <a:noFill/>
          <a:ln/>
        </p:spPr>
        <p:txBody>
          <a:bodyPr wrap="square" lIns="0" tIns="0" rIns="0" bIns="0" rtlCol="0" anchor="ctr"/>
          <a:lstStyle/>
          <a:p>
            <a:pPr algn="r" indent="0" marL="0">
              <a:buNone/>
            </a:pPr>
            <a:r>
              <a:rPr lang="en-US" sz="1100" b="1" dirty="0">
                <a:solidFill>
                  <a:srgbClr val="F0F4F8"/>
                </a:solidFill>
                <a:latin typeface="Calibri" pitchFamily="34" charset="0"/>
                <a:ea typeface="Calibri" pitchFamily="34" charset="-122"/>
                <a:cs typeface="Calibri" pitchFamily="34" charset="-120"/>
              </a:rPr>
              <a:t>50–80M SAR pre-money · Sep 2027</a:t>
            </a:r>
            <a:endParaRPr lang="en-US" sz="1100" dirty="0"/>
          </a:p>
        </p:txBody>
      </p:sp>
      <p:sp>
        <p:nvSpPr>
          <p:cNvPr id="20" name="Shape 18"/>
          <p:cNvSpPr/>
          <p:nvPr/>
        </p:nvSpPr>
        <p:spPr>
          <a:xfrm>
            <a:off x="4709160" y="1325880"/>
            <a:ext cx="4114800" cy="347472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21" name="Shape 19"/>
          <p:cNvSpPr/>
          <p:nvPr/>
        </p:nvSpPr>
        <p:spPr>
          <a:xfrm>
            <a:off x="4709160" y="1325880"/>
            <a:ext cx="4114800" cy="54864"/>
          </a:xfrm>
          <a:prstGeom prst="rect">
            <a:avLst/>
          </a:prstGeom>
          <a:solidFill>
            <a:srgbClr val="00B4CC"/>
          </a:solidFill>
          <a:ln/>
        </p:spPr>
      </p:sp>
      <p:sp>
        <p:nvSpPr>
          <p:cNvPr id="22" name="Text 20"/>
          <p:cNvSpPr/>
          <p:nvPr/>
        </p:nvSpPr>
        <p:spPr>
          <a:xfrm>
            <a:off x="4846320" y="1426464"/>
            <a:ext cx="3840480" cy="365760"/>
          </a:xfrm>
          <a:prstGeom prst="rect">
            <a:avLst/>
          </a:prstGeom>
          <a:noFill/>
          <a:ln/>
        </p:spPr>
        <p:txBody>
          <a:bodyPr wrap="square" lIns="0" tIns="0" rIns="0" bIns="0" rtlCol="0" anchor="ctr"/>
          <a:lstStyle/>
          <a:p>
            <a:pPr indent="0" marL="0">
              <a:buNone/>
            </a:pPr>
            <a:r>
              <a:rPr lang="en-US" sz="1400" b="1" dirty="0">
                <a:solidFill>
                  <a:srgbClr val="00B4CC"/>
                </a:solidFill>
                <a:latin typeface="Calibri" pitchFamily="34" charset="0"/>
                <a:ea typeface="Calibri" pitchFamily="34" charset="-122"/>
                <a:cs typeface="Calibri" pitchFamily="34" charset="-120"/>
              </a:rPr>
              <a:t>Use of Funds</a:t>
            </a:r>
            <a:endParaRPr lang="en-US" sz="1400" dirty="0"/>
          </a:p>
        </p:txBody>
      </p:sp>
      <p:sp>
        <p:nvSpPr>
          <p:cNvPr id="23" name="Text 21"/>
          <p:cNvSpPr/>
          <p:nvPr/>
        </p:nvSpPr>
        <p:spPr>
          <a:xfrm>
            <a:off x="4846320" y="1874520"/>
            <a:ext cx="3840480" cy="320040"/>
          </a:xfrm>
          <a:prstGeom prst="rect">
            <a:avLst/>
          </a:prstGeom>
          <a:noFill/>
          <a:ln/>
        </p:spPr>
        <p:txBody>
          <a:bodyPr wrap="square" lIns="0" tIns="0" rIns="0" bIns="0" rtlCol="0" anchor="ctr"/>
          <a:lstStyle/>
          <a:p>
            <a:pPr indent="0" marL="0">
              <a:buNone/>
            </a:pPr>
            <a:r>
              <a:rPr lang="en-US" sz="900" i="1" dirty="0">
                <a:solidFill>
                  <a:srgbClr val="FFB020"/>
                </a:solidFill>
                <a:latin typeface="Calibri" pitchFamily="34" charset="0"/>
                <a:ea typeface="Calibri" pitchFamily="34" charset="-122"/>
                <a:cs typeface="Calibri" pitchFamily="34" charset="-120"/>
              </a:rPr>
              <a:t>[PLACEHOLDER — founder to supply % allocation across categories below]</a:t>
            </a:r>
            <a:endParaRPr lang="en-US" sz="900" dirty="0"/>
          </a:p>
        </p:txBody>
      </p:sp>
      <p:sp>
        <p:nvSpPr>
          <p:cNvPr id="24" name="Text 22"/>
          <p:cNvSpPr/>
          <p:nvPr/>
        </p:nvSpPr>
        <p:spPr>
          <a:xfrm>
            <a:off x="4846320" y="2267712"/>
            <a:ext cx="3840480" cy="2331720"/>
          </a:xfrm>
          <a:prstGeom prst="rect">
            <a:avLst/>
          </a:prstGeom>
          <a:noFill/>
          <a:ln/>
        </p:spPr>
        <p:txBody>
          <a:bodyPr wrap="square" rtlCol="0" anchor="ctr"/>
          <a:lstStyle/>
          <a:p>
            <a:pPr marL="342900" indent="-342900">
              <a:spcAft>
                <a:spcPts val="400"/>
              </a:spcAft>
              <a:buSzPct val="100000"/>
              <a:buChar char="•"/>
            </a:pPr>
            <a:r>
              <a:rPr lang="en-US" sz="1050" dirty="0">
                <a:solidFill>
                  <a:srgbClr val="F0F4F8"/>
                </a:solidFill>
                <a:latin typeface="Calibri" pitchFamily="34" charset="0"/>
                <a:ea typeface="Calibri" pitchFamily="34" charset="-122"/>
                <a:cs typeface="Calibri" pitchFamily="34" charset="-120"/>
              </a:rPr>
              <a:t>Engineering hires (Senior FE + ML Engineer)</a:t>
            </a:r>
            <a:endParaRPr lang="en-US" sz="1050" dirty="0"/>
          </a:p>
          <a:p>
            <a:pPr marL="342900" indent="-342900">
              <a:spcAft>
                <a:spcPts val="400"/>
              </a:spcAft>
              <a:buSzPct val="100000"/>
              <a:buChar char="•"/>
            </a:pPr>
            <a:r>
              <a:rPr lang="en-US" sz="1050" dirty="0">
                <a:solidFill>
                  <a:srgbClr val="F0F4F8"/>
                </a:solidFill>
                <a:latin typeface="Calibri" pitchFamily="34" charset="0"/>
                <a:ea typeface="Calibri" pitchFamily="34" charset="-122"/>
                <a:cs typeface="Calibri" pitchFamily="34" charset="-120"/>
              </a:rPr>
              <a:t>B2B sales &amp; academy onboarding</a:t>
            </a:r>
            <a:endParaRPr lang="en-US" sz="1050" dirty="0"/>
          </a:p>
          <a:p>
            <a:pPr marL="342900" indent="-342900">
              <a:spcAft>
                <a:spcPts val="400"/>
              </a:spcAft>
              <a:buSzPct val="100000"/>
              <a:buChar char="•"/>
            </a:pPr>
            <a:r>
              <a:rPr lang="en-US" sz="1050" dirty="0">
                <a:solidFill>
                  <a:srgbClr val="F0F4F8"/>
                </a:solidFill>
                <a:latin typeface="Calibri" pitchFamily="34" charset="0"/>
                <a:ea typeface="Calibri" pitchFamily="34" charset="-122"/>
                <a:cs typeface="Calibri" pitchFamily="34" charset="-120"/>
              </a:rPr>
              <a:t>Arabic content QA &amp; translation</a:t>
            </a:r>
            <a:endParaRPr lang="en-US" sz="1050" dirty="0"/>
          </a:p>
          <a:p>
            <a:pPr marL="342900" indent="-342900">
              <a:spcAft>
                <a:spcPts val="400"/>
              </a:spcAft>
              <a:buSzPct val="100000"/>
              <a:buChar char="•"/>
            </a:pPr>
            <a:r>
              <a:rPr lang="en-US" sz="1050" dirty="0">
                <a:solidFill>
                  <a:srgbClr val="F0F4F8"/>
                </a:solidFill>
                <a:latin typeface="Calibri" pitchFamily="34" charset="0"/>
                <a:ea typeface="Calibri" pitchFamily="34" charset="-122"/>
                <a:cs typeface="Calibri" pitchFamily="34" charset="-120"/>
              </a:rPr>
              <a:t>Legal entity registration + PDPL DPIA</a:t>
            </a:r>
            <a:endParaRPr lang="en-US" sz="1050" dirty="0"/>
          </a:p>
          <a:p>
            <a:pPr marL="342900" indent="-342900">
              <a:spcAft>
                <a:spcPts val="400"/>
              </a:spcAft>
              <a:buSzPct val="100000"/>
              <a:buChar char="•"/>
            </a:pPr>
            <a:r>
              <a:rPr lang="en-US" sz="1050" dirty="0">
                <a:solidFill>
                  <a:srgbClr val="F0F4F8"/>
                </a:solidFill>
                <a:latin typeface="Calibri" pitchFamily="34" charset="0"/>
                <a:ea typeface="Calibri" pitchFamily="34" charset="-122"/>
                <a:cs typeface="Calibri" pitchFamily="34" charset="-120"/>
              </a:rPr>
              <a:t>ZATCA / payments integration</a:t>
            </a:r>
            <a:endParaRPr lang="en-US" sz="1050" dirty="0"/>
          </a:p>
          <a:p>
            <a:pPr marL="342900" indent="-342900">
              <a:spcAft>
                <a:spcPts val="400"/>
              </a:spcAft>
              <a:buSzPct val="100000"/>
              <a:buChar char="•"/>
            </a:pPr>
            <a:r>
              <a:rPr lang="en-US" sz="1050" dirty="0">
                <a:solidFill>
                  <a:srgbClr val="F0F4F8"/>
                </a:solidFill>
                <a:latin typeface="Calibri" pitchFamily="34" charset="0"/>
                <a:ea typeface="Calibri" pitchFamily="34" charset="-122"/>
                <a:cs typeface="Calibri" pitchFamily="34" charset="-120"/>
              </a:rPr>
              <a:t>Marketing &amp; waitlist-to-user conversion</a:t>
            </a:r>
            <a:endParaRPr lang="en-US" sz="1050" dirty="0"/>
          </a:p>
        </p:txBody>
      </p:sp>
      <p:sp>
        <p:nvSpPr>
          <p:cNvPr id="25" name="Text 23"/>
          <p:cNvSpPr/>
          <p:nvPr/>
        </p:nvSpPr>
        <p:spPr>
          <a:xfrm>
            <a:off x="320040" y="4828032"/>
            <a:ext cx="8503920" cy="201168"/>
          </a:xfrm>
          <a:prstGeom prst="rect">
            <a:avLst/>
          </a:prstGeom>
          <a:noFill/>
          <a:ln/>
        </p:spPr>
        <p:txBody>
          <a:bodyPr wrap="square" lIns="0" tIns="0" rIns="0" bIns="0" rtlCol="0" anchor="ctr"/>
          <a:lstStyle/>
          <a:p>
            <a:pPr indent="0" marL="0">
              <a:buNone/>
            </a:pPr>
            <a:r>
              <a:rPr lang="en-US" sz="800" i="1" dirty="0">
                <a:solidFill>
                  <a:srgbClr val="4B5563"/>
                </a:solidFill>
                <a:latin typeface="Calibri" pitchFamily="34" charset="0"/>
                <a:ea typeface="Calibri" pitchFamily="34" charset="-122"/>
                <a:cs typeface="Calibri" pitchFamily="34" charset="-120"/>
              </a:rPr>
              <a:t>Source: Investor FAQ · DDQ v1.0 · OKR Plan FY2026-2027</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B020"/>
          </a:solidFill>
          <a:ln/>
        </p:spPr>
      </p:sp>
      <p:sp>
        <p:nvSpPr>
          <p:cNvPr id="3" name="Shape 1"/>
          <p:cNvSpPr/>
          <p:nvPr/>
        </p:nvSpPr>
        <p:spPr>
          <a:xfrm>
            <a:off x="0" y="5079492"/>
            <a:ext cx="9144000" cy="64008"/>
          </a:xfrm>
          <a:prstGeom prst="rect">
            <a:avLst/>
          </a:prstGeom>
          <a:solidFill>
            <a:srgbClr val="00B4CC"/>
          </a:solidFill>
          <a:ln/>
        </p:spPr>
      </p:sp>
      <p:sp>
        <p:nvSpPr>
          <p:cNvPr id="4" name="Text 2"/>
          <p:cNvSpPr/>
          <p:nvPr/>
        </p:nvSpPr>
        <p:spPr>
          <a:xfrm>
            <a:off x="914400" y="475488"/>
            <a:ext cx="7315200" cy="731520"/>
          </a:xfrm>
          <a:prstGeom prst="rect">
            <a:avLst/>
          </a:prstGeom>
          <a:noFill/>
          <a:ln/>
        </p:spPr>
        <p:txBody>
          <a:bodyPr wrap="square" lIns="0" tIns="0" rIns="0" bIns="0" rtlCol="0" anchor="ctr"/>
          <a:lstStyle/>
          <a:p>
            <a:pPr algn="ctr" indent="0" marL="0">
              <a:buNone/>
            </a:pPr>
            <a:r>
              <a:rPr lang="en-US" sz="4200" b="1" dirty="0">
                <a:solidFill>
                  <a:srgbClr val="F0F4F8"/>
                </a:solidFill>
                <a:latin typeface="Calibri" pitchFamily="34" charset="0"/>
                <a:ea typeface="Calibri" pitchFamily="34" charset="-122"/>
                <a:cs typeface="Calibri" pitchFamily="34" charset="-120"/>
              </a:rPr>
              <a:t>FLY GACA</a:t>
            </a:r>
            <a:endParaRPr lang="en-US" sz="4200" dirty="0"/>
          </a:p>
        </p:txBody>
      </p:sp>
      <p:sp>
        <p:nvSpPr>
          <p:cNvPr id="5" name="Text 3"/>
          <p:cNvSpPr/>
          <p:nvPr/>
        </p:nvSpPr>
        <p:spPr>
          <a:xfrm>
            <a:off x="914400" y="1207008"/>
            <a:ext cx="7315200" cy="475488"/>
          </a:xfrm>
          <a:prstGeom prst="rect">
            <a:avLst/>
          </a:prstGeom>
          <a:noFill/>
          <a:ln/>
        </p:spPr>
        <p:txBody>
          <a:bodyPr wrap="square" lIns="0" tIns="0" rIns="0" bIns="0" rtlCol="0" anchor="ctr"/>
          <a:lstStyle/>
          <a:p>
            <a:pPr algn="ctr" indent="0" marL="0">
              <a:buNone/>
            </a:pPr>
            <a:r>
              <a:rPr lang="en-US" sz="2000" i="1" dirty="0">
                <a:solidFill>
                  <a:srgbClr val="00B4CC"/>
                </a:solidFill>
                <a:latin typeface="Calibri" pitchFamily="34" charset="0"/>
                <a:ea typeface="Calibri" pitchFamily="34" charset="-122"/>
                <a:cs typeface="Calibri" pitchFamily="34" charset="-120"/>
              </a:rPr>
              <a:t>طَيَران جاكا</a:t>
            </a:r>
            <a:endParaRPr lang="en-US" sz="2000" dirty="0"/>
          </a:p>
        </p:txBody>
      </p:sp>
      <p:sp>
        <p:nvSpPr>
          <p:cNvPr id="6" name="Text 4"/>
          <p:cNvSpPr/>
          <p:nvPr/>
        </p:nvSpPr>
        <p:spPr>
          <a:xfrm>
            <a:off x="914400" y="1737360"/>
            <a:ext cx="7315200" cy="457200"/>
          </a:xfrm>
          <a:prstGeom prst="rect">
            <a:avLst/>
          </a:prstGeom>
          <a:noFill/>
          <a:ln/>
        </p:spPr>
        <p:txBody>
          <a:bodyPr wrap="square" lIns="0" tIns="0" rIns="0" bIns="0" rtlCol="0" anchor="ctr"/>
          <a:lstStyle/>
          <a:p>
            <a:pPr algn="ctr" indent="0" marL="0">
              <a:buNone/>
            </a:pPr>
            <a:r>
              <a:rPr lang="en-US" sz="1600" i="1" dirty="0">
                <a:solidFill>
                  <a:srgbClr val="94A3B8"/>
                </a:solidFill>
                <a:latin typeface="Calibri" pitchFamily="34" charset="0"/>
                <a:ea typeface="Calibri" pitchFamily="34" charset="-122"/>
                <a:cs typeface="Calibri" pitchFamily="34" charset="-120"/>
              </a:rPr>
              <a:t>"Saudi aviation — in one cockpit."</a:t>
            </a:r>
            <a:endParaRPr lang="en-US" sz="1600" dirty="0"/>
          </a:p>
        </p:txBody>
      </p:sp>
      <p:sp>
        <p:nvSpPr>
          <p:cNvPr id="7" name="Shape 5"/>
          <p:cNvSpPr/>
          <p:nvPr/>
        </p:nvSpPr>
        <p:spPr>
          <a:xfrm>
            <a:off x="2286000" y="2377440"/>
            <a:ext cx="4572000" cy="1417320"/>
          </a:xfrm>
          <a:prstGeom prst="rect">
            <a:avLst/>
          </a:prstGeom>
          <a:solidFill>
            <a:srgbClr val="141C25"/>
          </a:solidFill>
          <a:ln/>
          <a:effectLst>
            <a:outerShdw sx="100000" sy="100000" kx="0" ky="0" algn="bl" rotWithShape="0" blurRad="127000" dist="38100" dir="8100000">
              <a:srgbClr val="000000">
                <a:alpha val="25000"/>
              </a:srgbClr>
            </a:outerShdw>
          </a:effectLst>
        </p:spPr>
      </p:sp>
      <p:sp>
        <p:nvSpPr>
          <p:cNvPr id="8" name="Text 6"/>
          <p:cNvSpPr/>
          <p:nvPr/>
        </p:nvSpPr>
        <p:spPr>
          <a:xfrm>
            <a:off x="2377440" y="2487168"/>
            <a:ext cx="4389120" cy="1207008"/>
          </a:xfrm>
          <a:prstGeom prst="rect">
            <a:avLst/>
          </a:prstGeom>
          <a:noFill/>
          <a:ln/>
        </p:spPr>
        <p:txBody>
          <a:bodyPr wrap="square" lIns="0" tIns="0" rIns="0" bIns="0" rtlCol="0" anchor="ctr"/>
          <a:lstStyle/>
          <a:p>
            <a:pPr algn="ctr" indent="0" marL="0">
              <a:buNone/>
            </a:pPr>
            <a:r>
              <a:rPr lang="en-US" sz="1300" b="1" dirty="0">
                <a:solidFill>
                  <a:srgbClr val="F0F4F8"/>
                </a:solidFill>
                <a:latin typeface="Calibri" pitchFamily="34" charset="0"/>
                <a:ea typeface="Calibri" pitchFamily="34" charset="-122"/>
                <a:cs typeface="Calibri" pitchFamily="34" charset="-120"/>
              </a:rPr>
              <a:t>Captain Adel Yahya A. Madkhali
</a:t>
            </a:r>
            <a:pPr algn="ctr" indent="0" marL="0">
              <a:buNone/>
            </a:pPr>
            <a:r>
              <a:rPr lang="en-US" sz="1300" dirty="0">
                <a:solidFill>
                  <a:srgbClr val="F0F4F8"/>
                </a:solidFill>
                <a:latin typeface="Calibri" pitchFamily="34" charset="0"/>
                <a:ea typeface="Calibri" pitchFamily="34" charset="-122"/>
                <a:cs typeface="Calibri" pitchFamily="34" charset="-120"/>
              </a:rPr>
              <a:t>Founder &amp; CEO
</a:t>
            </a:r>
            <a:pPr algn="ctr" indent="0" marL="0">
              <a:buNone/>
            </a:pPr>
            <a:r>
              <a:rPr lang="en-US" sz="1300" dirty="0">
                <a:solidFill>
                  <a:srgbClr val="00B4CC"/>
                </a:solidFill>
                <a:latin typeface="Calibri" pitchFamily="34" charset="0"/>
                <a:ea typeface="Calibri" pitchFamily="34" charset="-122"/>
                <a:cs typeface="Calibri" pitchFamily="34" charset="-120"/>
              </a:rPr>
              <a:t>i@flygaca.com  ·  +966 51 096 6969  ·  flygaca.com</a:t>
            </a:r>
            <a:endParaRPr lang="en-US" sz="1300" dirty="0"/>
          </a:p>
        </p:txBody>
      </p:sp>
      <p:sp>
        <p:nvSpPr>
          <p:cNvPr id="9" name="Shape 7"/>
          <p:cNvSpPr/>
          <p:nvPr/>
        </p:nvSpPr>
        <p:spPr>
          <a:xfrm>
            <a:off x="457200" y="3995928"/>
            <a:ext cx="8229600" cy="822960"/>
          </a:xfrm>
          <a:prstGeom prst="rect">
            <a:avLst/>
          </a:prstGeom>
          <a:solidFill>
            <a:srgbClr val="0A1220"/>
          </a:solidFill>
          <a:ln w="12700">
            <a:solidFill>
              <a:srgbClr val="1E2D3D"/>
            </a:solidFill>
            <a:prstDash val="solid"/>
          </a:ln>
        </p:spPr>
      </p:sp>
      <p:sp>
        <p:nvSpPr>
          <p:cNvPr id="10" name="Text 8"/>
          <p:cNvSpPr/>
          <p:nvPr/>
        </p:nvSpPr>
        <p:spPr>
          <a:xfrm>
            <a:off x="594360" y="4041648"/>
            <a:ext cx="7955280" cy="731520"/>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IMPORTANT NOTICE — This platform is INDEPENDENT of and NOT affiliated with the General Authority of Civil Aviation (GACA) of the Kingdom of Saudi Arabia. Fly GACA is an educational reference and study tool only. All content is cited from official GACA sources. Always verify against the current official GACAR and GACA publications before any operational use. Official fees, licences, exams and approvals are obtained solely from GACA.</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 GACA — Investor Pitch Deck 2026</dc:title>
  <dc:subject>Bridge Round · 3M SAR · Captain Adel Yahya A. Madkhali</dc:subject>
  <dc:creator>Fly GACA</dc:creator>
  <cp:lastModifiedBy>Fly GACA</cp:lastModifiedBy>
  <cp:revision>1</cp:revision>
  <dcterms:created xsi:type="dcterms:W3CDTF">2026-06-15T22:15:45Z</dcterms:created>
  <dcterms:modified xsi:type="dcterms:W3CDTF">2026-06-15T22:15:45Z</dcterms:modified>
</cp:coreProperties>
</file>